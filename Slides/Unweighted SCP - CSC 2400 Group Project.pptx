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Inter SemiBold"/>
      <p:regular r:id="rId20"/>
      <p:bold r:id="rId21"/>
      <p:italic r:id="rId22"/>
      <p:boldItalic r:id="rId23"/>
    </p:embeddedFont>
    <p:embeddedFont>
      <p:font typeface="Montserrat"/>
      <p:bold r:id="rId24"/>
      <p:boldItalic r:id="rId25"/>
    </p:embeddedFont>
    <p:embeddedFont>
      <p:font typeface="Inter"/>
      <p:bold r:id="rId26"/>
      <p:boldItalic r:id="rId27"/>
    </p:embeddedFont>
    <p:embeddedFont>
      <p:font typeface="Inter ExtraBold"/>
      <p:bold r:id="rId28"/>
      <p:boldItalic r:id="rId29"/>
    </p:embeddedFont>
    <p:embeddedFont>
      <p:font typeface="Montserrat ExtraBold"/>
      <p:bold r:id="rId30"/>
      <p:boldItalic r:id="rId31"/>
    </p:embeddedFont>
    <p:embeddedFont>
      <p:font typeface="Inter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Montserrat-bold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InterExtraBold-bold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ExtraBold-boldItalic.fntdata"/><Relationship Id="rId30" Type="http://schemas.openxmlformats.org/officeDocument/2006/relationships/font" Target="fonts/MontserratExtraBold-bold.fntdata"/><Relationship Id="rId11" Type="http://schemas.openxmlformats.org/officeDocument/2006/relationships/slide" Target="slides/slide6.xml"/><Relationship Id="rId33" Type="http://schemas.openxmlformats.org/officeDocument/2006/relationships/font" Target="fonts/InterMedium-bold.fntdata"/><Relationship Id="rId10" Type="http://schemas.openxmlformats.org/officeDocument/2006/relationships/slide" Target="slides/slide5.xml"/><Relationship Id="rId32" Type="http://schemas.openxmlformats.org/officeDocument/2006/relationships/font" Target="fonts/InterMedium-regular.fntdata"/><Relationship Id="rId13" Type="http://schemas.openxmlformats.org/officeDocument/2006/relationships/slide" Target="slides/slide8.xml"/><Relationship Id="rId35" Type="http://schemas.openxmlformats.org/officeDocument/2006/relationships/font" Target="fonts/Inter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Inter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SemiBold-bold.fntdata"/><Relationship Id="rId16" Type="http://schemas.openxmlformats.org/officeDocument/2006/relationships/font" Target="fonts/MontserratSemiBold-regular.fntdata"/><Relationship Id="rId19" Type="http://schemas.openxmlformats.org/officeDocument/2006/relationships/font" Target="fonts/MontserratSemiBold-boldItalic.fntdata"/><Relationship Id="rId18" Type="http://schemas.openxmlformats.org/officeDocument/2006/relationships/font" Target="fonts/Montserra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593892b6e_2_75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g3f593892b6e_2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afternoon. Today our team is presenting an empirical evaluation of four distinct algorithmic paradigms for solving the Unweighted Set Cover Problem.</a:t>
            </a:r>
            <a:endParaRPr/>
          </a:p>
        </p:txBody>
      </p:sp>
      <p:sp>
        <p:nvSpPr>
          <p:cNvPr id="53" name="Google Shape;53;g3f593892b6e_2_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593892b6e_2_82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g3f593892b6e_2_8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Set Cover Problem asks what is the fewest number of subsets needed to cover every element in a universe. Because it is NP-hard, finding exact answers becomes exponentially difficult as problem sizes scale.</a:t>
            </a:r>
            <a:endParaRPr/>
          </a:p>
        </p:txBody>
      </p:sp>
      <p:sp>
        <p:nvSpPr>
          <p:cNvPr id="72" name="Google Shape;72;g3f593892b6e_2_8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593892b6e_2_88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f593892b6e_2_8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framed our investigation around two primary questions: can stochastic metaheuristics beat local myopic traps that fool greedy choices, and where exactly does exact Integer Linear Programming become intractable?</a:t>
            </a:r>
            <a:endParaRPr/>
          </a:p>
        </p:txBody>
      </p:sp>
      <p:sp>
        <p:nvSpPr>
          <p:cNvPr id="90" name="Google Shape;90;g3f593892b6e_2_8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593892b6e_2_94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g3f593892b6e_2_9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we see our four algorithmic paradigms. ILP gives guaranteed mathematical exactness at the cost of potential exponential runtime. Greedy offers ultra-fast execution, while GA and HS bound runtime via generation limits.</a:t>
            </a:r>
            <a:endParaRPr/>
          </a:p>
        </p:txBody>
      </p:sp>
      <p:sp>
        <p:nvSpPr>
          <p:cNvPr id="106" name="Google Shape;106;g3f593892b6e_2_9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593892b6e_2_100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g3f593892b6e_2_10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the standard academic benchmark scp41, the Greedy heuristic got trapped at 6 subsets. Both GA and Harmony Search found the true optimal cover size of 5, but Harmony Search did so in just 11.6 milliseconds.</a:t>
            </a:r>
            <a:endParaRPr/>
          </a:p>
        </p:txBody>
      </p:sp>
      <p:sp>
        <p:nvSpPr>
          <p:cNvPr id="126" name="Google Shape;126;g3f593892b6e_2_10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593892b6e_2_106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g3f593892b6e_2_10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Looking at runtime scaling across synthetic datasets, ILP clearly displays its exponential curve, hitting our 60-second safety cutoff at N=512 and failing entirely at N=2048.</a:t>
            </a:r>
            <a:endParaRPr/>
          </a:p>
        </p:txBody>
      </p:sp>
      <p:sp>
        <p:nvSpPr>
          <p:cNvPr id="148" name="Google Shape;148;g3f593892b6e_2_10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593892b6e_2_113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g3f593892b6e_2_1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Greedy performed exceptionally well on synthetic data, staying right next to the exact baseline. Un-guided GA and HS suffered from search-space explosion during repair phases on dense matrices.</a:t>
            </a:r>
            <a:endParaRPr/>
          </a:p>
        </p:txBody>
      </p:sp>
      <p:sp>
        <p:nvSpPr>
          <p:cNvPr id="164" name="Google Shape;164;g3f593892b6e_2_1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593892b6e_2_120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g3f593892b6e_2_1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summarize the trade-offs: use ILP when you need 100% exact solutions on small problems; use Greedy for real-time results on massive dense grids; and use Metaheuristics on complex sparse structures where greedy choices fail.</a:t>
            </a:r>
            <a:endParaRPr/>
          </a:p>
        </p:txBody>
      </p:sp>
      <p:sp>
        <p:nvSpPr>
          <p:cNvPr id="177" name="Google Shape;177;g3f593892b6e_2_1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593892b6e_2_126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g3f593892b6e_2_1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codebase was built with strict modular design in Python. In alignment with TTU academic integrity guidelines, Generative AI was utilized strictly for code formatting, visualization styling, and documentation proofreading.</a:t>
            </a:r>
            <a:endParaRPr/>
          </a:p>
        </p:txBody>
      </p:sp>
      <p:sp>
        <p:nvSpPr>
          <p:cNvPr id="194" name="Google Shape;194;g3f593892b6e_2_1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593892b6e_2_132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g3f593892b6e_2_1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your time! We are now ready for the 5-minute Q&amp;A session.</a:t>
            </a:r>
            <a:endParaRPr/>
          </a:p>
        </p:txBody>
      </p:sp>
      <p:sp>
        <p:nvSpPr>
          <p:cNvPr id="211" name="Google Shape;211;g3f593892b6e_2_1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hyperlink" Target="http://github.com/matthew-richardson-ai/SetCover_Greedy_ILP_HS_GA_ORLibra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5715000" y="-1905000"/>
            <a:ext cx="5715000" cy="5715000"/>
          </a:xfrm>
          <a:prstGeom prst="ellipse">
            <a:avLst/>
          </a:prstGeom>
          <a:solidFill>
            <a:srgbClr val="1C2541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-952500" y="2381250"/>
            <a:ext cx="3810000" cy="3810000"/>
          </a:xfrm>
          <a:prstGeom prst="ellipse">
            <a:avLst/>
          </a:prstGeom>
          <a:solidFill>
            <a:srgbClr val="3A506B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62000" y="714375"/>
            <a:ext cx="34290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35">
                <a:solidFill>
                  <a:srgbClr val="64FFDA"/>
                </a:solidFill>
                <a:latin typeface="Montserrat"/>
                <a:ea typeface="Montserrat"/>
                <a:cs typeface="Montserrat"/>
                <a:sym typeface="Montserrat"/>
              </a:rPr>
              <a:t>Algorithm Performance Study</a:t>
            </a:r>
            <a:endParaRPr b="1" sz="935">
              <a:solidFill>
                <a:srgbClr val="64FF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238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Empirical Performance Analysis</a:t>
            </a:r>
            <a:endParaRPr b="1" sz="935">
              <a:solidFill>
                <a:srgbClr val="64FFD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53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Unweighted Set Cover Problem</a:t>
            </a:r>
            <a:endParaRPr b="1" sz="935">
              <a:solidFill>
                <a:srgbClr val="64FFD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62000" y="2667000"/>
            <a:ext cx="34290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Course</a:t>
            </a:r>
            <a:endParaRPr b="1" sz="9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CSC 2400</a:t>
            </a:r>
            <a:endParaRPr b="1" sz="9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Design and Analysis of Algorithms</a:t>
            </a:r>
            <a:endParaRPr b="1" sz="9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762000" y="3714750"/>
            <a:ext cx="34290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Research Authors</a:t>
            </a:r>
            <a:endParaRPr b="1" sz="9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Ian Phillips</a:t>
            </a:r>
            <a:br>
              <a:rPr lang="en" sz="12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b="0" lang="en" sz="12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Abdullah Javed</a:t>
            </a:r>
            <a:br>
              <a:rPr lang="en" sz="12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b="0" lang="en" sz="12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Matthew Richardson</a:t>
            </a:r>
            <a:endParaRPr b="1" sz="9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0" name="Google Shape;60;p13"/>
          <p:cNvGrpSpPr/>
          <p:nvPr/>
        </p:nvGrpSpPr>
        <p:grpSpPr>
          <a:xfrm>
            <a:off x="4572000" y="714375"/>
            <a:ext cx="3810000" cy="1047900"/>
            <a:chOff x="0" y="0"/>
            <a:chExt cx="3810000" cy="1047900"/>
          </a:xfrm>
        </p:grpSpPr>
        <p:sp>
          <p:nvSpPr>
            <p:cNvPr id="61" name="Google Shape;61;p13"/>
            <p:cNvSpPr/>
            <p:nvPr/>
          </p:nvSpPr>
          <p:spPr>
            <a:xfrm>
              <a:off x="0" y="0"/>
              <a:ext cx="3810000" cy="1047900"/>
            </a:xfrm>
            <a:prstGeom prst="roundRect">
              <a:avLst>
                <a:gd fmla="val 7272" name="adj"/>
              </a:avLst>
            </a:prstGeom>
            <a:solidFill>
              <a:srgbClr val="1C2541"/>
            </a:solidFill>
            <a:ln cap="flat" cmpd="sng" w="9525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152400" y="114300"/>
              <a:ext cx="35052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Method 01</a:t>
              </a:r>
              <a:endParaRPr b="1" sz="90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Exact Solver</a:t>
              </a:r>
              <a:endParaRPr b="1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Integer Linear Programming (ILP)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3" name="Google Shape;63;p13"/>
          <p:cNvGrpSpPr/>
          <p:nvPr/>
        </p:nvGrpSpPr>
        <p:grpSpPr>
          <a:xfrm>
            <a:off x="4572000" y="1952625"/>
            <a:ext cx="3810000" cy="1047900"/>
            <a:chOff x="0" y="0"/>
            <a:chExt cx="3810000" cy="1047900"/>
          </a:xfrm>
        </p:grpSpPr>
        <p:sp>
          <p:nvSpPr>
            <p:cNvPr id="64" name="Google Shape;64;p13"/>
            <p:cNvSpPr/>
            <p:nvPr/>
          </p:nvSpPr>
          <p:spPr>
            <a:xfrm>
              <a:off x="0" y="0"/>
              <a:ext cx="3810000" cy="1047900"/>
            </a:xfrm>
            <a:prstGeom prst="roundRect">
              <a:avLst>
                <a:gd fmla="val 7272" name="adj"/>
              </a:avLst>
            </a:prstGeom>
            <a:solidFill>
              <a:srgbClr val="1C2541"/>
            </a:solidFill>
            <a:ln cap="flat" cmpd="sng" w="9525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 txBox="1"/>
            <p:nvPr/>
          </p:nvSpPr>
          <p:spPr>
            <a:xfrm>
              <a:off x="152400" y="114300"/>
              <a:ext cx="35052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Method 02</a:t>
              </a:r>
              <a:endParaRPr b="1" sz="90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Greedy Heuristic</a:t>
              </a:r>
              <a:endParaRPr b="1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Deterministic Greedy Approximation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6" name="Google Shape;66;p13"/>
          <p:cNvGrpSpPr/>
          <p:nvPr/>
        </p:nvGrpSpPr>
        <p:grpSpPr>
          <a:xfrm>
            <a:off x="4572000" y="3190875"/>
            <a:ext cx="3810000" cy="1238400"/>
            <a:chOff x="0" y="0"/>
            <a:chExt cx="3810000" cy="1238400"/>
          </a:xfrm>
        </p:grpSpPr>
        <p:sp>
          <p:nvSpPr>
            <p:cNvPr id="67" name="Google Shape;67;p13"/>
            <p:cNvSpPr/>
            <p:nvPr/>
          </p:nvSpPr>
          <p:spPr>
            <a:xfrm>
              <a:off x="0" y="0"/>
              <a:ext cx="3810000" cy="1238400"/>
            </a:xfrm>
            <a:prstGeom prst="roundRect">
              <a:avLst>
                <a:gd fmla="val 6153" name="adj"/>
              </a:avLst>
            </a:prstGeom>
            <a:solidFill>
              <a:srgbClr val="1C2541"/>
            </a:solidFill>
            <a:ln cap="flat" cmpd="sng" w="9525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152400" y="114300"/>
              <a:ext cx="3505200" cy="10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Method 03</a:t>
              </a:r>
              <a:endParaRPr b="1" sz="90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Metaheuristics</a:t>
              </a:r>
              <a:endParaRPr b="1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Genetic Algorithm (GA) &amp; Harmony Search (HS)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/>
        </p:nvSpPr>
        <p:spPr>
          <a:xfrm>
            <a:off x="571500" y="42862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What is the Set Cover Problem (SCP)?</a:t>
            </a:r>
            <a:endParaRPr b="0" sz="24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75" name="Google Shape;75;p14"/>
          <p:cNvGrpSpPr/>
          <p:nvPr/>
        </p:nvGrpSpPr>
        <p:grpSpPr>
          <a:xfrm>
            <a:off x="571500" y="1238250"/>
            <a:ext cx="3857700" cy="1571700"/>
            <a:chOff x="0" y="0"/>
            <a:chExt cx="3857700" cy="1571700"/>
          </a:xfrm>
        </p:grpSpPr>
        <p:sp>
          <p:nvSpPr>
            <p:cNvPr id="76" name="Google Shape;76;p14"/>
            <p:cNvSpPr/>
            <p:nvPr/>
          </p:nvSpPr>
          <p:spPr>
            <a:xfrm>
              <a:off x="0" y="0"/>
              <a:ext cx="3857700" cy="1571700"/>
            </a:xfrm>
            <a:prstGeom prst="roundRect">
              <a:avLst>
                <a:gd fmla="val 4848" name="adj"/>
              </a:avLst>
            </a:prstGeom>
            <a:solidFill>
              <a:srgbClr val="1C2541"/>
            </a:solidFill>
            <a:ln cap="flat" cmpd="sng" w="9525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142875" y="142875"/>
              <a:ext cx="35718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FORMAL DEFINITION</a:t>
              </a:r>
              <a:endParaRPr b="1" sz="90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Given universe </a:t>
              </a:r>
              <a:r>
                <a:rPr b="0" lang="en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 = {1, ..., n}</a:t>
              </a: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and subsets </a:t>
              </a:r>
              <a:r>
                <a:rPr b="0" lang="en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 = {S1, ..., Sm}</a:t>
              </a: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, select </a:t>
              </a:r>
              <a:r>
                <a:rPr b="0" lang="en" sz="1100">
                  <a:solidFill>
                    <a:srgbClr val="64FFD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S' ⊆ S</a:t>
              </a: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of minimal cardinality such that </a:t>
              </a:r>
              <a:r>
                <a:rPr b="0" lang="en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⋃ Sj = U</a:t>
              </a: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8" name="Google Shape;78;p14"/>
          <p:cNvGrpSpPr/>
          <p:nvPr/>
        </p:nvGrpSpPr>
        <p:grpSpPr>
          <a:xfrm>
            <a:off x="4714875" y="1238250"/>
            <a:ext cx="3857700" cy="1571700"/>
            <a:chOff x="0" y="0"/>
            <a:chExt cx="3857700" cy="1571700"/>
          </a:xfrm>
        </p:grpSpPr>
        <p:sp>
          <p:nvSpPr>
            <p:cNvPr id="79" name="Google Shape;79;p14"/>
            <p:cNvSpPr/>
            <p:nvPr/>
          </p:nvSpPr>
          <p:spPr>
            <a:xfrm>
              <a:off x="0" y="0"/>
              <a:ext cx="3857700" cy="1571700"/>
            </a:xfrm>
            <a:prstGeom prst="roundRect">
              <a:avLst>
                <a:gd fmla="val 4848" name="adj"/>
              </a:avLst>
            </a:prstGeom>
            <a:solidFill>
              <a:srgbClr val="1C2541"/>
            </a:solidFill>
            <a:ln cap="flat" cmpd="sng" w="9525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 txBox="1"/>
            <p:nvPr/>
          </p:nvSpPr>
          <p:spPr>
            <a:xfrm>
              <a:off x="142875" y="142875"/>
              <a:ext cx="35718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OPTIMIZATION TARGET</a:t>
              </a:r>
              <a:endParaRPr b="1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Minimize total subsets</a:t>
              </a: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picked while ensuring </a:t>
              </a:r>
              <a:r>
                <a:rPr b="0" lang="en" sz="11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100% element coverage</a:t>
              </a: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1" name="Google Shape;81;p14"/>
          <p:cNvGrpSpPr/>
          <p:nvPr/>
        </p:nvGrpSpPr>
        <p:grpSpPr>
          <a:xfrm>
            <a:off x="571500" y="3000375"/>
            <a:ext cx="3857700" cy="1571700"/>
            <a:chOff x="0" y="0"/>
            <a:chExt cx="3857700" cy="1571700"/>
          </a:xfrm>
        </p:grpSpPr>
        <p:sp>
          <p:nvSpPr>
            <p:cNvPr id="82" name="Google Shape;82;p14"/>
            <p:cNvSpPr/>
            <p:nvPr/>
          </p:nvSpPr>
          <p:spPr>
            <a:xfrm>
              <a:off x="0" y="0"/>
              <a:ext cx="3857700" cy="1571700"/>
            </a:xfrm>
            <a:prstGeom prst="roundRect">
              <a:avLst>
                <a:gd fmla="val 4848" name="adj"/>
              </a:avLst>
            </a:prstGeom>
            <a:solidFill>
              <a:srgbClr val="1C2541"/>
            </a:solidFill>
            <a:ln cap="flat" cmpd="sng" w="9525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 txBox="1"/>
            <p:nvPr/>
          </p:nvSpPr>
          <p:spPr>
            <a:xfrm>
              <a:off x="142875" y="142875"/>
              <a:ext cx="35718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NP-HARD COMPLEXITY</a:t>
              </a:r>
              <a:endParaRPr b="1" sz="90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Theoretical worst-case complexity forces a critical </a:t>
              </a:r>
              <a:r>
                <a:rPr b="0" lang="en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trade-off</a:t>
              </a: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between exactness and execution time.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4" name="Google Shape;84;p14"/>
          <p:cNvGrpSpPr/>
          <p:nvPr/>
        </p:nvGrpSpPr>
        <p:grpSpPr>
          <a:xfrm>
            <a:off x="4714875" y="3000375"/>
            <a:ext cx="3857700" cy="1571700"/>
            <a:chOff x="0" y="0"/>
            <a:chExt cx="3857700" cy="1571700"/>
          </a:xfrm>
        </p:grpSpPr>
        <p:sp>
          <p:nvSpPr>
            <p:cNvPr id="85" name="Google Shape;85;p14"/>
            <p:cNvSpPr/>
            <p:nvPr/>
          </p:nvSpPr>
          <p:spPr>
            <a:xfrm>
              <a:off x="0" y="0"/>
              <a:ext cx="3857700" cy="1571700"/>
            </a:xfrm>
            <a:prstGeom prst="roundRect">
              <a:avLst>
                <a:gd fmla="val 4848" name="adj"/>
              </a:avLst>
            </a:prstGeom>
            <a:solidFill>
              <a:srgbClr val="1C2541"/>
            </a:solidFill>
            <a:ln cap="flat" cmpd="sng" w="9525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 txBox="1"/>
            <p:nvPr/>
          </p:nvSpPr>
          <p:spPr>
            <a:xfrm>
              <a:off x="142875" y="142875"/>
              <a:ext cx="35718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REAL-WORLD APPLICATIONS</a:t>
              </a:r>
              <a:endParaRPr b="1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Airline crew scheduling, computational biology, cellular tower layout, and portfolio optimization.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/>
        </p:nvSpPr>
        <p:spPr>
          <a:xfrm>
            <a:off x="571500" y="428625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Research Questions &amp; Hypotheses</a:t>
            </a:r>
            <a:endParaRPr b="0" sz="24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93" name="Google Shape;93;p15"/>
          <p:cNvGrpSpPr/>
          <p:nvPr/>
        </p:nvGrpSpPr>
        <p:grpSpPr>
          <a:xfrm>
            <a:off x="571500" y="1238250"/>
            <a:ext cx="3857700" cy="3238500"/>
            <a:chOff x="0" y="0"/>
            <a:chExt cx="3857700" cy="3238500"/>
          </a:xfrm>
        </p:grpSpPr>
        <p:sp>
          <p:nvSpPr>
            <p:cNvPr id="94" name="Google Shape;94;p15"/>
            <p:cNvSpPr/>
            <p:nvPr/>
          </p:nvSpPr>
          <p:spPr>
            <a:xfrm>
              <a:off x="0" y="0"/>
              <a:ext cx="3857700" cy="3238500"/>
            </a:xfrm>
            <a:prstGeom prst="roundRect">
              <a:avLst>
                <a:gd fmla="val 2352" name="adj"/>
              </a:avLst>
            </a:prstGeom>
            <a:solidFill>
              <a:srgbClr val="1C2541"/>
            </a:solidFill>
            <a:ln cap="flat" cmpd="sng" w="9525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5" name="Google Shape;95;p15"/>
            <p:cNvGrpSpPr/>
            <p:nvPr/>
          </p:nvGrpSpPr>
          <p:grpSpPr>
            <a:xfrm>
              <a:off x="190500" y="190500"/>
              <a:ext cx="3476700" cy="2857500"/>
              <a:chOff x="0" y="0"/>
              <a:chExt cx="3476700" cy="2857500"/>
            </a:xfrm>
          </p:grpSpPr>
          <p:sp>
            <p:nvSpPr>
              <p:cNvPr id="96" name="Google Shape;96;p15"/>
              <p:cNvSpPr/>
              <p:nvPr/>
            </p:nvSpPr>
            <p:spPr>
              <a:xfrm>
                <a:off x="0" y="0"/>
                <a:ext cx="3476700" cy="2857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5"/>
              <p:cNvSpPr txBox="1"/>
              <p:nvPr/>
            </p:nvSpPr>
            <p:spPr>
              <a:xfrm>
                <a:off x="0" y="0"/>
                <a:ext cx="34767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FFDA"/>
                    </a:solidFill>
                    <a:latin typeface="Inter"/>
                    <a:ea typeface="Inter"/>
                    <a:cs typeface="Inter"/>
                    <a:sym typeface="Inter"/>
                  </a:rPr>
                  <a:t>RQ1: SOLUTION QUALITY</a:t>
                </a:r>
                <a:endParaRPr b="1" sz="100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Do population/pitch-adjustment metaheuristics (GA, HS) consistently find tighter covers than Greedy on sparse benchmark matrices?</a:t>
                </a:r>
                <a:endParaRPr b="1" sz="15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18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HYPOTHESIS</a:t>
                </a:r>
                <a:endParaRPr b="1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Yes. Greedy is myopic and susceptible to local traps; GA and HS utilize stochastic operators to escape local optima.</a:t>
                </a:r>
                <a:endParaRPr b="0" sz="11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8" name="Google Shape;98;p15"/>
          <p:cNvGrpSpPr/>
          <p:nvPr/>
        </p:nvGrpSpPr>
        <p:grpSpPr>
          <a:xfrm>
            <a:off x="4714875" y="1238250"/>
            <a:ext cx="3857700" cy="3238500"/>
            <a:chOff x="0" y="0"/>
            <a:chExt cx="3857700" cy="3238500"/>
          </a:xfrm>
        </p:grpSpPr>
        <p:sp>
          <p:nvSpPr>
            <p:cNvPr id="99" name="Google Shape;99;p15"/>
            <p:cNvSpPr/>
            <p:nvPr/>
          </p:nvSpPr>
          <p:spPr>
            <a:xfrm>
              <a:off x="0" y="0"/>
              <a:ext cx="3857700" cy="3238500"/>
            </a:xfrm>
            <a:prstGeom prst="roundRect">
              <a:avLst>
                <a:gd fmla="val 2352" name="adj"/>
              </a:avLst>
            </a:prstGeom>
            <a:solidFill>
              <a:srgbClr val="1C2541"/>
            </a:solidFill>
            <a:ln cap="flat" cmpd="sng" w="9525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" name="Google Shape;100;p15"/>
            <p:cNvGrpSpPr/>
            <p:nvPr/>
          </p:nvGrpSpPr>
          <p:grpSpPr>
            <a:xfrm>
              <a:off x="190500" y="190500"/>
              <a:ext cx="3476700" cy="2857500"/>
              <a:chOff x="0" y="0"/>
              <a:chExt cx="3476700" cy="2857500"/>
            </a:xfrm>
          </p:grpSpPr>
          <p:sp>
            <p:nvSpPr>
              <p:cNvPr id="101" name="Google Shape;101;p15"/>
              <p:cNvSpPr/>
              <p:nvPr/>
            </p:nvSpPr>
            <p:spPr>
              <a:xfrm>
                <a:off x="0" y="0"/>
                <a:ext cx="3476700" cy="2857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5"/>
              <p:cNvSpPr txBox="1"/>
              <p:nvPr/>
            </p:nvSpPr>
            <p:spPr>
              <a:xfrm>
                <a:off x="0" y="0"/>
                <a:ext cx="34767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RQ2: RUNTIME SCALABILITY</a:t>
                </a:r>
                <a:endParaRPr b="1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How do runtimes scale relative to exact ILP as universe size expands to N = 2048?</a:t>
                </a:r>
                <a:endParaRPr b="1" sz="15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18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FFDA"/>
                    </a:solidFill>
                    <a:latin typeface="Inter"/>
                    <a:ea typeface="Inter"/>
                    <a:cs typeface="Inter"/>
                    <a:sym typeface="Inter"/>
                  </a:rPr>
                  <a:t>HYPOTHESIS</a:t>
                </a:r>
                <a:endParaRPr b="1" sz="100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Exact ILP will hit an exponential worst-case runtime wall</a:t>
                </a:r>
                <a:r>
                  <a:rPr lang="en" sz="11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O(2</a:t>
                </a:r>
                <a:r>
                  <a:rPr baseline="30000" lang="en" sz="11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m </a:t>
                </a:r>
                <a:r>
                  <a:rPr lang="en" sz="11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),</a:t>
                </a:r>
                <a:r>
                  <a:rPr b="0" lang="en" sz="11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whereas metaheuristics scale predictably within bounded generation/iteration limits.</a:t>
                </a:r>
                <a:endParaRPr b="0" sz="11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6"/>
          <p:cNvGrpSpPr/>
          <p:nvPr/>
        </p:nvGrpSpPr>
        <p:grpSpPr>
          <a:xfrm>
            <a:off x="571500" y="428625"/>
            <a:ext cx="8001000" cy="571500"/>
            <a:chOff x="0" y="0"/>
            <a:chExt cx="8001000" cy="571500"/>
          </a:xfrm>
        </p:grpSpPr>
        <p:sp>
          <p:nvSpPr>
            <p:cNvPr id="109" name="Google Shape;109;p16"/>
            <p:cNvSpPr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Theoretical &amp; Computational Complexity</a:t>
              </a:r>
              <a:endParaRPr b="0" sz="24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grpSp>
        <p:nvGrpSpPr>
          <p:cNvPr id="111" name="Google Shape;111;p16"/>
          <p:cNvGrpSpPr/>
          <p:nvPr/>
        </p:nvGrpSpPr>
        <p:grpSpPr>
          <a:xfrm>
            <a:off x="571500" y="1238250"/>
            <a:ext cx="3857700" cy="1571700"/>
            <a:chOff x="0" y="0"/>
            <a:chExt cx="3857700" cy="1571700"/>
          </a:xfrm>
        </p:grpSpPr>
        <p:sp>
          <p:nvSpPr>
            <p:cNvPr id="112" name="Google Shape;112;p16"/>
            <p:cNvSpPr/>
            <p:nvPr/>
          </p:nvSpPr>
          <p:spPr>
            <a:xfrm>
              <a:off x="0" y="0"/>
              <a:ext cx="3857700" cy="1571700"/>
            </a:xfrm>
            <a:prstGeom prst="roundRect">
              <a:avLst>
                <a:gd fmla="val 4848" name="adj"/>
              </a:avLst>
            </a:prstGeom>
            <a:solidFill>
              <a:srgbClr val="1C2541"/>
            </a:solidFill>
            <a:ln cap="flat" cmpd="sng" w="9525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0" y="0"/>
              <a:ext cx="38577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ILP EXACT SOLVER</a:t>
              </a:r>
              <a:endParaRPr b="1" sz="90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9525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Branch-and-Bound / Cuts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Time Complexity: </a:t>
              </a:r>
              <a:r>
                <a:rPr b="1" lang="en" sz="105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O(2</a:t>
              </a:r>
              <a:r>
                <a:rPr b="1" baseline="30000" lang="en" sz="105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m</a:t>
              </a:r>
              <a:r>
                <a:rPr b="1" lang="en" sz="105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) worst-case</a:t>
              </a:r>
              <a:endParaRPr b="0" sz="10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Traversal: </a:t>
              </a:r>
              <a:r>
                <a:rPr b="0" lang="en" sz="105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Global search via continuous Simplex relaxation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4714875" y="1238250"/>
            <a:ext cx="3857700" cy="1571700"/>
            <a:chOff x="0" y="0"/>
            <a:chExt cx="3857700" cy="1571700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3857700" cy="1571700"/>
            </a:xfrm>
            <a:prstGeom prst="roundRect">
              <a:avLst>
                <a:gd fmla="val 4848" name="adj"/>
              </a:avLst>
            </a:prstGeom>
            <a:solidFill>
              <a:srgbClr val="1C2541"/>
            </a:solidFill>
            <a:ln cap="flat" cmpd="sng" w="9525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0" y="0"/>
              <a:ext cx="38577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GREEDY APPROXIMATION HEURISTIC</a:t>
              </a:r>
              <a:endParaRPr b="1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9525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Myopic Selection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Time Complexity: </a:t>
              </a:r>
              <a:r>
                <a:rPr b="1" lang="en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O(m · n²)</a:t>
              </a:r>
              <a:endParaRPr b="0" sz="10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Traversal: </a:t>
              </a:r>
              <a:r>
                <a:rPr b="0" lang="en" sz="105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Deterministic local myopic reduction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571500" y="3000375"/>
            <a:ext cx="3857700" cy="1571700"/>
            <a:chOff x="0" y="0"/>
            <a:chExt cx="3857700" cy="1571700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3857700" cy="1571700"/>
            </a:xfrm>
            <a:prstGeom prst="roundRect">
              <a:avLst>
                <a:gd fmla="val 4848" name="adj"/>
              </a:avLst>
            </a:prstGeom>
            <a:solidFill>
              <a:srgbClr val="1C2541"/>
            </a:solidFill>
            <a:ln cap="flat" cmpd="sng" w="9525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0" y="0"/>
              <a:ext cx="38577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GENETIC ALGORITHM (GA)</a:t>
              </a:r>
              <a:endParaRPr b="1" sz="90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9525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Population-Based Metaheuristic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Time Complexity: </a:t>
              </a:r>
              <a:r>
                <a:rPr b="1" lang="en" sz="105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O(G · P · m · n)</a:t>
              </a:r>
              <a:endParaRPr b="0" sz="10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Traversal: </a:t>
              </a:r>
              <a:r>
                <a:rPr b="0" lang="en" sz="105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Population evolutionary crossover, mutation &amp; repair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0" name="Google Shape;120;p16"/>
          <p:cNvGrpSpPr/>
          <p:nvPr/>
        </p:nvGrpSpPr>
        <p:grpSpPr>
          <a:xfrm>
            <a:off x="4714875" y="3000375"/>
            <a:ext cx="3857700" cy="1571700"/>
            <a:chOff x="0" y="0"/>
            <a:chExt cx="3857700" cy="1571700"/>
          </a:xfrm>
        </p:grpSpPr>
        <p:sp>
          <p:nvSpPr>
            <p:cNvPr id="121" name="Google Shape;121;p16"/>
            <p:cNvSpPr/>
            <p:nvPr/>
          </p:nvSpPr>
          <p:spPr>
            <a:xfrm>
              <a:off x="0" y="0"/>
              <a:ext cx="3857700" cy="1571700"/>
            </a:xfrm>
            <a:prstGeom prst="roundRect">
              <a:avLst>
                <a:gd fmla="val 4848" name="adj"/>
              </a:avLst>
            </a:prstGeom>
            <a:solidFill>
              <a:srgbClr val="1C2541"/>
            </a:solidFill>
            <a:ln cap="flat" cmpd="sng" w="9525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0" y="0"/>
              <a:ext cx="38577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HARMONY SEARCH (HS)</a:t>
              </a:r>
              <a:endParaRPr b="1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9525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Music-Inspired Metaheuristic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Time Complexity: </a:t>
              </a:r>
              <a:r>
                <a:rPr b="1" lang="en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O(K · HMS · m)</a:t>
              </a:r>
              <a:endParaRPr b="0" sz="10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Traversal: </a:t>
              </a:r>
              <a:r>
                <a:rPr b="0" lang="en" sz="105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Pitch-adjustment memory consideration search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/>
        </p:nvSpPr>
        <p:spPr>
          <a:xfrm>
            <a:off x="571500" y="42862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Empirical Results: Beasley OR-Library</a:t>
            </a:r>
            <a:endParaRPr b="0" sz="24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571500" y="1000125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Benchmark: scp41.txt | Universe (n) = 200 | Candidate Subsets (m) = 1,000</a:t>
            </a:r>
            <a:endParaRPr b="0" sz="1100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30" name="Google Shape;130;p17"/>
          <p:cNvGrpSpPr/>
          <p:nvPr/>
        </p:nvGrpSpPr>
        <p:grpSpPr>
          <a:xfrm>
            <a:off x="571500" y="1524000"/>
            <a:ext cx="1857300" cy="2238300"/>
            <a:chOff x="0" y="0"/>
            <a:chExt cx="1857300" cy="2238300"/>
          </a:xfrm>
        </p:grpSpPr>
        <p:sp>
          <p:nvSpPr>
            <p:cNvPr id="131" name="Google Shape;131;p17"/>
            <p:cNvSpPr/>
            <p:nvPr/>
          </p:nvSpPr>
          <p:spPr>
            <a:xfrm>
              <a:off x="0" y="0"/>
              <a:ext cx="1857300" cy="2238300"/>
            </a:xfrm>
            <a:prstGeom prst="roundRect">
              <a:avLst>
                <a:gd fmla="val 4102" name="adj"/>
              </a:avLst>
            </a:prstGeom>
            <a:solidFill>
              <a:srgbClr val="1C2541"/>
            </a:solidFill>
            <a:ln cap="flat" cmpd="sng" w="14300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 txBox="1"/>
            <p:nvPr/>
          </p:nvSpPr>
          <p:spPr>
            <a:xfrm>
              <a:off x="0" y="0"/>
              <a:ext cx="18573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ILP EXACT SOLVER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0.0391s</a:t>
              </a:r>
              <a:endParaRPr b="0" sz="2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Execution Runtime</a:t>
              </a:r>
              <a:endParaRPr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5 Subsets</a:t>
              </a:r>
              <a:endParaRPr b="0" sz="10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0.00% Gap (Optimum)</a:t>
              </a:r>
              <a:endParaRPr b="1" sz="95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3" name="Google Shape;133;p17"/>
          <p:cNvGrpSpPr/>
          <p:nvPr/>
        </p:nvGrpSpPr>
        <p:grpSpPr>
          <a:xfrm>
            <a:off x="2619375" y="1524000"/>
            <a:ext cx="1857300" cy="2238300"/>
            <a:chOff x="0" y="0"/>
            <a:chExt cx="1857300" cy="2238300"/>
          </a:xfrm>
        </p:grpSpPr>
        <p:sp>
          <p:nvSpPr>
            <p:cNvPr id="134" name="Google Shape;134;p17"/>
            <p:cNvSpPr/>
            <p:nvPr/>
          </p:nvSpPr>
          <p:spPr>
            <a:xfrm>
              <a:off x="0" y="0"/>
              <a:ext cx="1857300" cy="2238300"/>
            </a:xfrm>
            <a:prstGeom prst="roundRect">
              <a:avLst>
                <a:gd fmla="val 4102" name="adj"/>
              </a:avLst>
            </a:prstGeom>
            <a:solidFill>
              <a:srgbClr val="1C2541"/>
            </a:solidFill>
            <a:ln cap="flat" cmpd="sng" w="14300">
              <a:solidFill>
                <a:srgbClr val="64FF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0" y="0"/>
              <a:ext cx="18573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HARMONY SEARCH</a:t>
              </a:r>
              <a:endParaRPr b="1" sz="100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64FFD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0.0116s</a:t>
              </a:r>
              <a:endParaRPr b="0" sz="2400">
                <a:solidFill>
                  <a:srgbClr val="64FFD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Execution Runtime</a:t>
              </a:r>
              <a:endParaRPr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5 Subsets</a:t>
              </a:r>
              <a:endParaRPr b="0" sz="10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0.00% Gap (Optimum)</a:t>
              </a:r>
              <a:endParaRPr b="1" sz="95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6" name="Google Shape;136;p17"/>
          <p:cNvGrpSpPr/>
          <p:nvPr/>
        </p:nvGrpSpPr>
        <p:grpSpPr>
          <a:xfrm>
            <a:off x="4667250" y="1524000"/>
            <a:ext cx="1857300" cy="2238300"/>
            <a:chOff x="0" y="0"/>
            <a:chExt cx="1857300" cy="2238300"/>
          </a:xfrm>
        </p:grpSpPr>
        <p:sp>
          <p:nvSpPr>
            <p:cNvPr id="137" name="Google Shape;137;p17"/>
            <p:cNvSpPr/>
            <p:nvPr/>
          </p:nvSpPr>
          <p:spPr>
            <a:xfrm>
              <a:off x="0" y="0"/>
              <a:ext cx="1857300" cy="2238300"/>
            </a:xfrm>
            <a:prstGeom prst="roundRect">
              <a:avLst>
                <a:gd fmla="val 4102" name="adj"/>
              </a:avLst>
            </a:prstGeom>
            <a:solidFill>
              <a:srgbClr val="1C2541"/>
            </a:solidFill>
            <a:ln cap="flat" cmpd="sng" w="14300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 txBox="1"/>
            <p:nvPr/>
          </p:nvSpPr>
          <p:spPr>
            <a:xfrm>
              <a:off x="0" y="0"/>
              <a:ext cx="18573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GENETIC ALGORITHM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0.9723s</a:t>
              </a:r>
              <a:endParaRPr b="0" sz="2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Execution Runtime</a:t>
              </a:r>
              <a:endParaRPr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5 Subsets</a:t>
              </a:r>
              <a:endParaRPr b="0" sz="10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0.00% Gap (Optimum)</a:t>
              </a:r>
              <a:endParaRPr b="1" sz="95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9" name="Google Shape;139;p17"/>
          <p:cNvGrpSpPr/>
          <p:nvPr/>
        </p:nvGrpSpPr>
        <p:grpSpPr>
          <a:xfrm>
            <a:off x="6715125" y="1524000"/>
            <a:ext cx="1857300" cy="2238300"/>
            <a:chOff x="0" y="0"/>
            <a:chExt cx="1857300" cy="2238300"/>
          </a:xfrm>
        </p:grpSpPr>
        <p:sp>
          <p:nvSpPr>
            <p:cNvPr id="140" name="Google Shape;140;p17"/>
            <p:cNvSpPr/>
            <p:nvPr/>
          </p:nvSpPr>
          <p:spPr>
            <a:xfrm>
              <a:off x="0" y="0"/>
              <a:ext cx="1857300" cy="2238300"/>
            </a:xfrm>
            <a:prstGeom prst="roundRect">
              <a:avLst>
                <a:gd fmla="val 4102" name="adj"/>
              </a:avLst>
            </a:prstGeom>
            <a:solidFill>
              <a:srgbClr val="1C2541"/>
            </a:solidFill>
            <a:ln cap="flat" cmpd="sng" w="14300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0" y="0"/>
              <a:ext cx="18573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GREEDY HEURISTIC</a:t>
              </a:r>
              <a:endParaRPr b="1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0.0000s</a:t>
              </a:r>
              <a:endParaRPr b="0" sz="2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Execution Runtime</a:t>
              </a:r>
              <a:endParaRPr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6 Subsets</a:t>
              </a:r>
              <a:endParaRPr b="0" sz="10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43F5E"/>
                  </a:solidFill>
                  <a:latin typeface="Inter"/>
                  <a:ea typeface="Inter"/>
                  <a:cs typeface="Inter"/>
                  <a:sym typeface="Inter"/>
                </a:rPr>
                <a:t>+20.00% Gap (Trap)</a:t>
              </a:r>
              <a:endParaRPr b="1" sz="950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2" name="Google Shape;142;p17"/>
          <p:cNvGrpSpPr/>
          <p:nvPr/>
        </p:nvGrpSpPr>
        <p:grpSpPr>
          <a:xfrm>
            <a:off x="571500" y="4000500"/>
            <a:ext cx="8001000" cy="619200"/>
            <a:chOff x="0" y="0"/>
            <a:chExt cx="8001000" cy="619200"/>
          </a:xfrm>
        </p:grpSpPr>
        <p:sp>
          <p:nvSpPr>
            <p:cNvPr id="143" name="Google Shape;143;p17"/>
            <p:cNvSpPr/>
            <p:nvPr/>
          </p:nvSpPr>
          <p:spPr>
            <a:xfrm>
              <a:off x="0" y="0"/>
              <a:ext cx="8001000" cy="619200"/>
            </a:xfrm>
            <a:prstGeom prst="roundRect">
              <a:avLst>
                <a:gd fmla="val 12307" name="adj"/>
              </a:avLst>
            </a:prstGeom>
            <a:solidFill>
              <a:srgbClr val="1C2541"/>
            </a:solidFill>
            <a:ln cap="flat" cmpd="sng" w="14300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0" y="0"/>
              <a:ext cx="8001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KEY FINDING:</a:t>
              </a:r>
              <a:r>
                <a:rPr b="0" lang="en" sz="115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Harmony Search matched global optimality while executing </a:t>
              </a:r>
              <a:r>
                <a:rPr b="1" lang="en" sz="115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~83x faster</a:t>
              </a:r>
              <a:r>
                <a:rPr b="0" lang="en" sz="115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than Genetic Algorithm.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/>
        </p:nvSpPr>
        <p:spPr>
          <a:xfrm>
            <a:off x="571500" y="381000"/>
            <a:ext cx="8001000" cy="34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2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Runtime Scalability: Synthetic Suite (N = 64 → 2048)</a:t>
            </a:r>
            <a:endParaRPr b="0" sz="222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51" name="Google Shape;151;p18"/>
          <p:cNvGrpSpPr/>
          <p:nvPr/>
        </p:nvGrpSpPr>
        <p:grpSpPr>
          <a:xfrm>
            <a:off x="571500" y="1143000"/>
            <a:ext cx="3714900" cy="1047900"/>
            <a:chOff x="0" y="0"/>
            <a:chExt cx="3714900" cy="1047900"/>
          </a:xfrm>
        </p:grpSpPr>
        <p:sp>
          <p:nvSpPr>
            <p:cNvPr id="152" name="Google Shape;152;p18"/>
            <p:cNvSpPr/>
            <p:nvPr/>
          </p:nvSpPr>
          <p:spPr>
            <a:xfrm>
              <a:off x="0" y="0"/>
              <a:ext cx="3714900" cy="1047900"/>
            </a:xfrm>
            <a:prstGeom prst="roundRect">
              <a:avLst>
                <a:gd fmla="val 7272" name="adj"/>
              </a:avLst>
            </a:prstGeom>
            <a:solidFill>
              <a:srgbClr val="1C2541"/>
            </a:solidFill>
            <a:ln cap="flat" cmpd="sng" w="9525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0" y="0"/>
              <a:ext cx="3714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43F5E"/>
                  </a:solidFill>
                  <a:latin typeface="Inter"/>
                  <a:ea typeface="Inter"/>
                  <a:cs typeface="Inter"/>
                  <a:sym typeface="Inter"/>
                </a:rPr>
                <a:t>ILP INTRACTABILITY CEILING</a:t>
              </a:r>
              <a:endParaRPr b="1" sz="950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Solves N ≤ 256 in &lt; 1.5s, but hits 60s timeout at N = 512/1024, becoming intractable at N = 2048.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scaling_runtime_comparison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819" y="1028700"/>
            <a:ext cx="4251962" cy="25511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18"/>
          <p:cNvGrpSpPr/>
          <p:nvPr/>
        </p:nvGrpSpPr>
        <p:grpSpPr>
          <a:xfrm>
            <a:off x="571500" y="2333625"/>
            <a:ext cx="3714900" cy="904800"/>
            <a:chOff x="0" y="0"/>
            <a:chExt cx="3714900" cy="904800"/>
          </a:xfrm>
        </p:grpSpPr>
        <p:sp>
          <p:nvSpPr>
            <p:cNvPr id="156" name="Google Shape;156;p18"/>
            <p:cNvSpPr/>
            <p:nvPr/>
          </p:nvSpPr>
          <p:spPr>
            <a:xfrm>
              <a:off x="0" y="0"/>
              <a:ext cx="3714900" cy="904800"/>
            </a:xfrm>
            <a:prstGeom prst="roundRect">
              <a:avLst>
                <a:gd fmla="val 8421" name="adj"/>
              </a:avLst>
            </a:prstGeom>
            <a:solidFill>
              <a:srgbClr val="1C2541"/>
            </a:solidFill>
            <a:ln cap="flat" cmpd="sng" w="9525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0" y="0"/>
              <a:ext cx="37149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GREEDY EFFICIENCY</a:t>
              </a:r>
              <a:endParaRPr b="1" sz="95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Sub-second runtime across all scales (</a:t>
              </a:r>
              <a:r>
                <a:rPr b="0" lang="en" sz="1050">
                  <a:solidFill>
                    <a:srgbClr val="64FFD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0.0913s</a:t>
              </a: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at N = 2048).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8" name="Google Shape;158;p18"/>
          <p:cNvGrpSpPr/>
          <p:nvPr/>
        </p:nvGrpSpPr>
        <p:grpSpPr>
          <a:xfrm>
            <a:off x="571500" y="3381375"/>
            <a:ext cx="3714900" cy="904800"/>
            <a:chOff x="0" y="0"/>
            <a:chExt cx="3714900" cy="904800"/>
          </a:xfrm>
        </p:grpSpPr>
        <p:sp>
          <p:nvSpPr>
            <p:cNvPr id="159" name="Google Shape;159;p18"/>
            <p:cNvSpPr/>
            <p:nvPr/>
          </p:nvSpPr>
          <p:spPr>
            <a:xfrm>
              <a:off x="0" y="0"/>
              <a:ext cx="3714900" cy="904800"/>
            </a:xfrm>
            <a:prstGeom prst="roundRect">
              <a:avLst>
                <a:gd fmla="val 8421" name="adj"/>
              </a:avLst>
            </a:prstGeom>
            <a:solidFill>
              <a:srgbClr val="1C2541"/>
            </a:solidFill>
            <a:ln cap="flat" cmpd="sng" w="9525">
              <a:solidFill>
                <a:srgbClr val="3A50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8"/>
            <p:cNvSpPr txBox="1"/>
            <p:nvPr/>
          </p:nvSpPr>
          <p:spPr>
            <a:xfrm>
              <a:off x="0" y="0"/>
              <a:ext cx="37149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METAHEURISTIC BOUNDED RUNTIME</a:t>
              </a:r>
              <a:endParaRPr b="1" sz="9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Runtime scaling is strictly bounded by maximum generation limits.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/>
        </p:nvSpPr>
        <p:spPr>
          <a:xfrm>
            <a:off x="571500" y="381000"/>
            <a:ext cx="80010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Solution Quality &amp; Search Space Dynamics</a:t>
            </a:r>
            <a:endParaRPr b="0" sz="22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67" name="Google Shape;167;p19"/>
          <p:cNvGrpSpPr/>
          <p:nvPr/>
        </p:nvGrpSpPr>
        <p:grpSpPr>
          <a:xfrm>
            <a:off x="571500" y="1143000"/>
            <a:ext cx="3714900" cy="1428900"/>
            <a:chOff x="0" y="0"/>
            <a:chExt cx="3714900" cy="1428900"/>
          </a:xfrm>
        </p:grpSpPr>
        <p:sp>
          <p:nvSpPr>
            <p:cNvPr id="168" name="Google Shape;168;p19"/>
            <p:cNvSpPr/>
            <p:nvPr/>
          </p:nvSpPr>
          <p:spPr>
            <a:xfrm>
              <a:off x="0" y="0"/>
              <a:ext cx="3714900" cy="1428900"/>
            </a:xfrm>
            <a:prstGeom prst="roundRect">
              <a:avLst>
                <a:gd fmla="val 5333" name="adj"/>
              </a:avLst>
            </a:prstGeom>
            <a:solidFill>
              <a:srgbClr val="1C2541"/>
            </a:solidFill>
            <a:ln cap="flat" cmpd="sng" w="1430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 txBox="1"/>
            <p:nvPr/>
          </p:nvSpPr>
          <p:spPr>
            <a:xfrm>
              <a:off x="0" y="0"/>
              <a:ext cx="3714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GREEDY DOMINANCE (SYNTHETIC GRIDS)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Tracked ILP baseline closely</a:t>
              </a:r>
              <a:endParaRPr b="0" sz="15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Demonstrated exceptional performance with a very narrow 0.00% - 20.00% optimality gap.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0" name="Google Shape;170;p19"/>
          <p:cNvGrpSpPr/>
          <p:nvPr/>
        </p:nvGrpSpPr>
        <p:grpSpPr>
          <a:xfrm>
            <a:off x="571500" y="2762250"/>
            <a:ext cx="3714900" cy="1571700"/>
            <a:chOff x="0" y="0"/>
            <a:chExt cx="3714900" cy="1571700"/>
          </a:xfrm>
        </p:grpSpPr>
        <p:sp>
          <p:nvSpPr>
            <p:cNvPr id="171" name="Google Shape;171;p19"/>
            <p:cNvSpPr/>
            <p:nvPr/>
          </p:nvSpPr>
          <p:spPr>
            <a:xfrm>
              <a:off x="0" y="0"/>
              <a:ext cx="3714900" cy="1571700"/>
            </a:xfrm>
            <a:prstGeom prst="roundRect">
              <a:avLst>
                <a:gd fmla="val 4848" name="adj"/>
              </a:avLst>
            </a:prstGeom>
            <a:solidFill>
              <a:srgbClr val="1C2541"/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0" y="0"/>
              <a:ext cx="37149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Inter"/>
                  <a:ea typeface="Inter"/>
                  <a:cs typeface="Inter"/>
                  <a:sym typeface="Inter"/>
                </a:rPr>
                <a:t>METAHEURISTIC SEARCH EXPLOSION</a:t>
              </a:r>
              <a:endParaRPr b="1" sz="1000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Redundant subset accumulation</a:t>
              </a:r>
              <a:endParaRPr b="0" sz="15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Standard GA/HS without domain-specific repair pick redundant subsets during feasibility enforcement as N grows.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12395" r="12395" t="0"/>
          <a:stretch/>
        </p:blipFill>
        <p:spPr>
          <a:xfrm>
            <a:off x="4572000" y="1143000"/>
            <a:ext cx="4000500" cy="31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20"/>
          <p:cNvGrpSpPr/>
          <p:nvPr/>
        </p:nvGrpSpPr>
        <p:grpSpPr>
          <a:xfrm>
            <a:off x="571500" y="381000"/>
            <a:ext cx="8001000" cy="381000"/>
            <a:chOff x="0" y="0"/>
            <a:chExt cx="8001000" cy="381000"/>
          </a:xfrm>
        </p:grpSpPr>
        <p:sp>
          <p:nvSpPr>
            <p:cNvPr id="180" name="Google Shape;180;p20"/>
            <p:cNvSpPr/>
            <p:nvPr/>
          </p:nvSpPr>
          <p:spPr>
            <a:xfrm>
              <a:off x="0" y="0"/>
              <a:ext cx="800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0" y="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Trade-off Matrix &amp; Paradigm Selection Guide</a:t>
              </a:r>
              <a:endParaRPr b="0" sz="2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grpSp>
        <p:nvGrpSpPr>
          <p:cNvPr id="182" name="Google Shape;182;p20"/>
          <p:cNvGrpSpPr/>
          <p:nvPr/>
        </p:nvGrpSpPr>
        <p:grpSpPr>
          <a:xfrm>
            <a:off x="571500" y="1143000"/>
            <a:ext cx="2476500" cy="3238500"/>
            <a:chOff x="0" y="0"/>
            <a:chExt cx="2476500" cy="3238500"/>
          </a:xfrm>
        </p:grpSpPr>
        <p:sp>
          <p:nvSpPr>
            <p:cNvPr id="183" name="Google Shape;183;p20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fmla="val 3076" name="adj"/>
              </a:avLst>
            </a:prstGeom>
            <a:solidFill>
              <a:srgbClr val="1C2541"/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0" y="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43F5E"/>
                  </a:solidFill>
                  <a:latin typeface="Inter"/>
                  <a:ea typeface="Inter"/>
                  <a:cs typeface="Inter"/>
                  <a:sym typeface="Inter"/>
                </a:rPr>
                <a:t>EXACT ILP</a:t>
              </a:r>
              <a:endParaRPr b="1" sz="950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Branch-and-Bound</a:t>
              </a:r>
              <a:endParaRPr b="0" sz="15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BEST USED FOR</a:t>
              </a:r>
              <a:endParaRPr b="1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Small-to-medium instances (N ≤ 256) where true mathematical minimality is required.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43F5E"/>
                  </a:solidFill>
                  <a:latin typeface="Inter"/>
                  <a:ea typeface="Inter"/>
                  <a:cs typeface="Inter"/>
                  <a:sym typeface="Inter"/>
                </a:rPr>
                <a:t>LIMITATION</a:t>
              </a:r>
              <a:endParaRPr b="1" sz="1100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Unusable for large-scale real-time engineering systems due to exponential runtime growth.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5" name="Google Shape;185;p20"/>
          <p:cNvGrpSpPr/>
          <p:nvPr/>
        </p:nvGrpSpPr>
        <p:grpSpPr>
          <a:xfrm>
            <a:off x="3333750" y="1143000"/>
            <a:ext cx="2476500" cy="3238500"/>
            <a:chOff x="0" y="0"/>
            <a:chExt cx="2476500" cy="3238500"/>
          </a:xfrm>
        </p:grpSpPr>
        <p:sp>
          <p:nvSpPr>
            <p:cNvPr id="186" name="Google Shape;186;p20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fmla="val 3076" name="adj"/>
              </a:avLst>
            </a:prstGeom>
            <a:solidFill>
              <a:srgbClr val="1C2541"/>
            </a:solidFill>
            <a:ln cap="flat" cmpd="sng" w="14300">
              <a:solidFill>
                <a:srgbClr val="64FF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0"/>
            <p:cNvSpPr txBox="1"/>
            <p:nvPr/>
          </p:nvSpPr>
          <p:spPr>
            <a:xfrm>
              <a:off x="0" y="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APPROXIMATION</a:t>
              </a:r>
              <a:endParaRPr b="1" sz="95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Greedy Heuristic</a:t>
              </a:r>
              <a:endParaRPr b="0" sz="15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BEST USED FOR</a:t>
              </a:r>
              <a:endParaRPr b="1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Dense grids and high-dimensional synthetic systems needing instant execution (&lt; 0.1s).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LIMITATION</a:t>
              </a:r>
              <a:endParaRPr b="1" sz="110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Vulnerable to local optimization traps on sparse structured benchmarks.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8" name="Google Shape;188;p20"/>
          <p:cNvGrpSpPr/>
          <p:nvPr/>
        </p:nvGrpSpPr>
        <p:grpSpPr>
          <a:xfrm>
            <a:off x="6096000" y="1143000"/>
            <a:ext cx="2476500" cy="3238500"/>
            <a:chOff x="0" y="0"/>
            <a:chExt cx="2476500" cy="3238500"/>
          </a:xfrm>
        </p:grpSpPr>
        <p:sp>
          <p:nvSpPr>
            <p:cNvPr id="189" name="Google Shape;189;p20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fmla="val 3076" name="adj"/>
              </a:avLst>
            </a:prstGeom>
            <a:solidFill>
              <a:srgbClr val="1C2541"/>
            </a:solidFill>
            <a:ln cap="flat" cmpd="sng" w="1430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0" y="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METAHEURISTICS</a:t>
              </a:r>
              <a:endParaRPr b="1" sz="9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GA &amp; Harmony Search</a:t>
              </a:r>
              <a:endParaRPr b="0" sz="15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BEST USED FOR</a:t>
              </a:r>
              <a:endParaRPr b="1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Complex sparse academic instances (e.g., scp41) where local greedy traps exist.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KEY TAKEAWAY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Harmony Search offers faster convergence and lower memory overhead than GA.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21"/>
          <p:cNvGrpSpPr/>
          <p:nvPr/>
        </p:nvGrpSpPr>
        <p:grpSpPr>
          <a:xfrm>
            <a:off x="571500" y="381000"/>
            <a:ext cx="8001000" cy="428700"/>
            <a:chOff x="0" y="0"/>
            <a:chExt cx="8001000" cy="428700"/>
          </a:xfrm>
        </p:grpSpPr>
        <p:sp>
          <p:nvSpPr>
            <p:cNvPr id="197" name="Google Shape;197;p21"/>
            <p:cNvSpPr/>
            <p:nvPr/>
          </p:nvSpPr>
          <p:spPr>
            <a:xfrm>
              <a:off x="0" y="0"/>
              <a:ext cx="8001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1"/>
            <p:cNvSpPr txBox="1"/>
            <p:nvPr/>
          </p:nvSpPr>
          <p:spPr>
            <a:xfrm>
              <a:off x="0" y="0"/>
              <a:ext cx="800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Software Architecture &amp; Academic Compliance</a:t>
              </a:r>
              <a:endParaRPr b="0" sz="2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grpSp>
        <p:nvGrpSpPr>
          <p:cNvPr id="199" name="Google Shape;199;p21"/>
          <p:cNvGrpSpPr/>
          <p:nvPr/>
        </p:nvGrpSpPr>
        <p:grpSpPr>
          <a:xfrm>
            <a:off x="571500" y="1143000"/>
            <a:ext cx="2476500" cy="3429000"/>
            <a:chOff x="0" y="0"/>
            <a:chExt cx="2476500" cy="3429000"/>
          </a:xfrm>
        </p:grpSpPr>
        <p:sp>
          <p:nvSpPr>
            <p:cNvPr id="200" name="Google Shape;200;p21"/>
            <p:cNvSpPr/>
            <p:nvPr/>
          </p:nvSpPr>
          <p:spPr>
            <a:xfrm>
              <a:off x="0" y="0"/>
              <a:ext cx="2476500" cy="3429000"/>
            </a:xfrm>
            <a:prstGeom prst="roundRect">
              <a:avLst>
                <a:gd fmla="val 3076" name="adj"/>
              </a:avLst>
            </a:prstGeom>
            <a:solidFill>
              <a:srgbClr val="1C2541"/>
            </a:solidFill>
            <a:ln cap="flat" cmpd="sng" w="14300">
              <a:solidFill>
                <a:srgbClr val="64FF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1"/>
            <p:cNvSpPr txBox="1"/>
            <p:nvPr/>
          </p:nvSpPr>
          <p:spPr>
            <a:xfrm>
              <a:off x="0" y="0"/>
              <a:ext cx="2476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System Architecture</a:t>
              </a:r>
              <a:endParaRPr b="1" sz="95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Modular Pipeline</a:t>
              </a:r>
              <a:endParaRPr b="0" sz="15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Independent Solvers</a:t>
              </a:r>
              <a:endParaRPr b="1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Modular solver suite including ILP, Greedy, Genetic, and Harmony Search modules.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Pipeline &amp; Metrics</a:t>
              </a:r>
              <a:endParaRPr b="1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Unified pipeline driver (</a:t>
              </a:r>
              <a:r>
                <a:rPr b="0" lang="en" sz="110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main.py</a:t>
              </a: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) with automated CSV metrics logging and visualization (</a:t>
              </a:r>
              <a:r>
                <a:rPr b="0" lang="en" sz="110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generate_plots.py</a:t>
              </a: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2" name="Google Shape;202;p21"/>
          <p:cNvGrpSpPr/>
          <p:nvPr/>
        </p:nvGrpSpPr>
        <p:grpSpPr>
          <a:xfrm>
            <a:off x="3333750" y="1143000"/>
            <a:ext cx="2476500" cy="3429000"/>
            <a:chOff x="0" y="0"/>
            <a:chExt cx="2476500" cy="3429000"/>
          </a:xfrm>
        </p:grpSpPr>
        <p:sp>
          <p:nvSpPr>
            <p:cNvPr id="203" name="Google Shape;203;p21"/>
            <p:cNvSpPr/>
            <p:nvPr/>
          </p:nvSpPr>
          <p:spPr>
            <a:xfrm>
              <a:off x="0" y="0"/>
              <a:ext cx="2476500" cy="3429000"/>
            </a:xfrm>
            <a:prstGeom prst="roundRect">
              <a:avLst>
                <a:gd fmla="val 3076" name="adj"/>
              </a:avLst>
            </a:prstGeom>
            <a:solidFill>
              <a:srgbClr val="1C2541"/>
            </a:solidFill>
            <a:ln cap="flat" cmpd="sng" w="1430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1"/>
            <p:cNvSpPr txBox="1"/>
            <p:nvPr/>
          </p:nvSpPr>
          <p:spPr>
            <a:xfrm>
              <a:off x="0" y="0"/>
              <a:ext cx="2476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Contributions</a:t>
              </a:r>
              <a:endParaRPr b="1" sz="9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Team Breakdown</a:t>
              </a:r>
              <a:endParaRPr b="0" sz="15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Ian Phillips</a:t>
              </a:r>
              <a:b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Core Greedy heuristic logic and data matrix parsing.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Abdullah Javed</a:t>
              </a:r>
              <a:b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Harmony Search, ILP engine integration, and plots.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Matthew Richardson</a:t>
              </a:r>
              <a:b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Genetic Search, crossover/mutation, repair loops, pipeline.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5" name="Google Shape;205;p21"/>
          <p:cNvGrpSpPr/>
          <p:nvPr/>
        </p:nvGrpSpPr>
        <p:grpSpPr>
          <a:xfrm>
            <a:off x="6096000" y="1143000"/>
            <a:ext cx="2476500" cy="3429000"/>
            <a:chOff x="0" y="0"/>
            <a:chExt cx="2476500" cy="3429000"/>
          </a:xfrm>
        </p:grpSpPr>
        <p:sp>
          <p:nvSpPr>
            <p:cNvPr id="206" name="Google Shape;206;p21"/>
            <p:cNvSpPr/>
            <p:nvPr/>
          </p:nvSpPr>
          <p:spPr>
            <a:xfrm>
              <a:off x="0" y="0"/>
              <a:ext cx="2476500" cy="3429000"/>
            </a:xfrm>
            <a:prstGeom prst="roundRect">
              <a:avLst>
                <a:gd fmla="val 3076" name="adj"/>
              </a:avLst>
            </a:prstGeom>
            <a:solidFill>
              <a:srgbClr val="1C2541"/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0" y="0"/>
              <a:ext cx="2476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43F5E"/>
                  </a:solidFill>
                  <a:latin typeface="Inter"/>
                  <a:ea typeface="Inter"/>
                  <a:cs typeface="Inter"/>
                  <a:sym typeface="Inter"/>
                </a:rPr>
                <a:t>Academic Integrity</a:t>
              </a:r>
              <a:endParaRPr b="1" sz="950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GenAI Compliance</a:t>
              </a:r>
              <a:endParaRPr b="0" sz="15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TTU Guidelines</a:t>
              </a:r>
              <a:endParaRPr b="1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Utilized Gemini strictly as a pair-programming collaborator for Matplotlib styling, token parsers, and proofreading.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Manual Verification</a:t>
              </a:r>
              <a:endParaRPr b="1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All underlying algorithmic code and experimental verification was authored and validated manually.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/>
        </p:nvSpPr>
        <p:spPr>
          <a:xfrm>
            <a:off x="571500" y="381000"/>
            <a:ext cx="8001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Conclusion &amp; Q&amp;A Session</a:t>
            </a:r>
            <a:endParaRPr b="0" sz="22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214" name="Google Shape;214;p22"/>
          <p:cNvGrpSpPr/>
          <p:nvPr/>
        </p:nvGrpSpPr>
        <p:grpSpPr>
          <a:xfrm>
            <a:off x="571500" y="1143000"/>
            <a:ext cx="4572000" cy="3429000"/>
            <a:chOff x="0" y="0"/>
            <a:chExt cx="4572000" cy="3429000"/>
          </a:xfrm>
        </p:grpSpPr>
        <p:sp>
          <p:nvSpPr>
            <p:cNvPr id="215" name="Google Shape;215;p22"/>
            <p:cNvSpPr/>
            <p:nvPr/>
          </p:nvSpPr>
          <p:spPr>
            <a:xfrm>
              <a:off x="0" y="0"/>
              <a:ext cx="4572000" cy="3429000"/>
            </a:xfrm>
            <a:prstGeom prst="roundRect">
              <a:avLst>
                <a:gd fmla="val 2222" name="adj"/>
              </a:avLst>
            </a:prstGeom>
            <a:solidFill>
              <a:srgbClr val="1C2541"/>
            </a:solidFill>
            <a:ln cap="flat" cmpd="sng" w="14300">
              <a:solidFill>
                <a:srgbClr val="64FF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2"/>
            <p:cNvSpPr txBox="1"/>
            <p:nvPr/>
          </p:nvSpPr>
          <p:spPr>
            <a:xfrm>
              <a:off x="0" y="0"/>
              <a:ext cx="45720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Summary of Key Artifacts</a:t>
              </a:r>
              <a:endParaRPr b="1" sz="1000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Project Deliverables</a:t>
              </a:r>
              <a:endParaRPr b="0" sz="1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9845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CBD5E1"/>
                </a:buClr>
                <a:buSzPts val="1100"/>
                <a:buFont typeface="Inter"/>
                <a:buChar char="●"/>
              </a:pPr>
              <a:r>
                <a:rPr b="1" lang="en" sz="120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Empirical Benchmark Framework</a:t>
              </a: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Complete empirical coverage across exact, heuristic, and metaheuristic paradigms.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CBD5E1"/>
                </a:buClr>
                <a:buSzPts val="1100"/>
                <a:buFont typeface="Inter"/>
                <a:buChar char="●"/>
              </a:pPr>
              <a:r>
                <a:rPr b="1" lang="en" sz="120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Validated Performance Trade-offs</a:t>
              </a: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Rigorous testing against academic (OR-Library) and synthetic suites.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CBD5E1"/>
                </a:buClr>
                <a:buSzPts val="1100"/>
                <a:buFont typeface="Inter"/>
                <a:buChar char="●"/>
              </a:pPr>
              <a:r>
                <a:rPr b="1" lang="en" sz="1200">
                  <a:solidFill>
                    <a:srgbClr val="64FFDA"/>
                  </a:solidFill>
                  <a:latin typeface="Inter"/>
                  <a:ea typeface="Inter"/>
                  <a:cs typeface="Inter"/>
                  <a:sym typeface="Inter"/>
                </a:rPr>
                <a:t>Reproducible Codebase</a:t>
              </a:r>
              <a:r>
                <a:rPr b="0" lang="en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Modular implementation fully published and accessible on GitHub.</a:t>
              </a:r>
              <a:endParaRPr b="0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7" name="Google Shape;217;p22"/>
          <p:cNvGrpSpPr/>
          <p:nvPr/>
        </p:nvGrpSpPr>
        <p:grpSpPr>
          <a:xfrm>
            <a:off x="5429250" y="1143000"/>
            <a:ext cx="3143400" cy="1524000"/>
            <a:chOff x="0" y="0"/>
            <a:chExt cx="3143400" cy="1524000"/>
          </a:xfrm>
        </p:grpSpPr>
        <p:sp>
          <p:nvSpPr>
            <p:cNvPr id="218" name="Google Shape;218;p22"/>
            <p:cNvSpPr/>
            <p:nvPr/>
          </p:nvSpPr>
          <p:spPr>
            <a:xfrm>
              <a:off x="0" y="0"/>
              <a:ext cx="3143400" cy="1524000"/>
            </a:xfrm>
            <a:prstGeom prst="roundRect">
              <a:avLst>
                <a:gd fmla="val 5000" name="adj"/>
              </a:avLst>
            </a:prstGeom>
            <a:solidFill>
              <a:srgbClr val="1C2541"/>
            </a:solidFill>
            <a:ln cap="flat" cmpd="sng" w="1430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2"/>
            <p:cNvSpPr txBox="1"/>
            <p:nvPr/>
          </p:nvSpPr>
          <p:spPr>
            <a:xfrm>
              <a:off x="0" y="0"/>
              <a:ext cx="31434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Project Repository</a:t>
              </a:r>
              <a:endParaRPr b="1" sz="5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Access Codebase</a:t>
              </a:r>
              <a:endParaRPr b="0" sz="825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578" u="sng">
                  <a:solidFill>
                    <a:schemeClr val="hlink"/>
                  </a:solidFill>
                  <a:latin typeface="Inter"/>
                  <a:ea typeface="Inter"/>
                  <a:cs typeface="Inter"/>
                  <a:sym typeface="Inter"/>
                  <a:hlinkClick r:id="rId4"/>
                </a:rPr>
                <a:t>Unweighted SCP Repo</a:t>
              </a:r>
              <a:endParaRPr b="0" sz="57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0" name="Google Shape;220;p22"/>
          <p:cNvGrpSpPr/>
          <p:nvPr/>
        </p:nvGrpSpPr>
        <p:grpSpPr>
          <a:xfrm>
            <a:off x="5429250" y="2857500"/>
            <a:ext cx="3143400" cy="1714500"/>
            <a:chOff x="0" y="0"/>
            <a:chExt cx="3143400" cy="1714500"/>
          </a:xfrm>
        </p:grpSpPr>
        <p:sp>
          <p:nvSpPr>
            <p:cNvPr id="221" name="Google Shape;221;p22"/>
            <p:cNvSpPr/>
            <p:nvPr/>
          </p:nvSpPr>
          <p:spPr>
            <a:xfrm>
              <a:off x="0" y="0"/>
              <a:ext cx="3143400" cy="1714500"/>
            </a:xfrm>
            <a:prstGeom prst="roundRect">
              <a:avLst>
                <a:gd fmla="val 4444" name="adj"/>
              </a:avLst>
            </a:prstGeom>
            <a:solidFill>
              <a:srgbClr val="1C2541"/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2"/>
            <p:cNvSpPr txBox="1"/>
            <p:nvPr/>
          </p:nvSpPr>
          <p:spPr>
            <a:xfrm>
              <a:off x="0" y="0"/>
              <a:ext cx="31434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43F5E"/>
                  </a:solidFill>
                  <a:latin typeface="Inter"/>
                  <a:ea typeface="Inter"/>
                  <a:cs typeface="Inter"/>
                  <a:sym typeface="Inter"/>
                </a:rPr>
                <a:t>Session Wrap-Up</a:t>
              </a:r>
              <a:endParaRPr b="1" sz="1000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Thank You!</a:t>
              </a:r>
              <a:endParaRPr b="0" sz="24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Any Questions?</a:t>
              </a:r>
              <a:endParaRPr b="0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