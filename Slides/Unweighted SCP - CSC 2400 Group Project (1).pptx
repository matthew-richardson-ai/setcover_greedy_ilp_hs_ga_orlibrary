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Montserrat SemiBold"/>
      <p:regular r:id="rId16"/>
      <p:bold r:id="rId17"/>
      <p:italic r:id="rId18"/>
      <p:boldItalic r:id="rId19"/>
    </p:embeddedFont>
    <p:embeddedFont>
      <p:font typeface="Inter SemiBold"/>
      <p:regular r:id="rId20"/>
      <p:bold r:id="rId21"/>
      <p:italic r:id="rId22"/>
      <p:boldItalic r:id="rId23"/>
    </p:embeddedFont>
    <p:embeddedFont>
      <p:font typeface="Montserrat"/>
      <p:bold r:id="rId24"/>
      <p:boldItalic r:id="rId25"/>
    </p:embeddedFont>
    <p:embeddedFont>
      <p:font typeface="Inter"/>
      <p:bold r:id="rId26"/>
      <p:boldItalic r:id="rId27"/>
    </p:embeddedFont>
    <p:embeddedFont>
      <p:font typeface="Inter ExtraBold"/>
      <p:bold r:id="rId28"/>
      <p:boldItalic r:id="rId29"/>
    </p:embeddedFont>
    <p:embeddedFont>
      <p:font typeface="Montserrat ExtraBold"/>
      <p:bold r:id="rId30"/>
      <p:boldItalic r:id="rId31"/>
    </p:embeddedFont>
    <p:embeddedFont>
      <p:font typeface="Inter Medium"/>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SemiBold-regular.fntdata"/><Relationship Id="rId22" Type="http://schemas.openxmlformats.org/officeDocument/2006/relationships/font" Target="fonts/InterSemiBold-italic.fntdata"/><Relationship Id="rId21" Type="http://schemas.openxmlformats.org/officeDocument/2006/relationships/font" Target="fonts/InterSemiBold-bold.fntdata"/><Relationship Id="rId24" Type="http://schemas.openxmlformats.org/officeDocument/2006/relationships/font" Target="fonts/Montserrat-bold.fntdata"/><Relationship Id="rId23" Type="http://schemas.openxmlformats.org/officeDocument/2006/relationships/font" Target="fonts/Inter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nter-bold.fntdata"/><Relationship Id="rId25" Type="http://schemas.openxmlformats.org/officeDocument/2006/relationships/font" Target="fonts/Montserrat-boldItalic.fntdata"/><Relationship Id="rId28" Type="http://schemas.openxmlformats.org/officeDocument/2006/relationships/font" Target="fonts/InterExtraBold-bold.fntdata"/><Relationship Id="rId27" Type="http://schemas.openxmlformats.org/officeDocument/2006/relationships/font" Target="fonts/Inter-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ExtraBold-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ExtraBold-boldItalic.fntdata"/><Relationship Id="rId30" Type="http://schemas.openxmlformats.org/officeDocument/2006/relationships/font" Target="fonts/MontserratExtraBold-bold.fntdata"/><Relationship Id="rId11" Type="http://schemas.openxmlformats.org/officeDocument/2006/relationships/slide" Target="slides/slide6.xml"/><Relationship Id="rId33" Type="http://schemas.openxmlformats.org/officeDocument/2006/relationships/font" Target="fonts/InterMedium-bold.fntdata"/><Relationship Id="rId10" Type="http://schemas.openxmlformats.org/officeDocument/2006/relationships/slide" Target="slides/slide5.xml"/><Relationship Id="rId32" Type="http://schemas.openxmlformats.org/officeDocument/2006/relationships/font" Target="fonts/InterMedium-regular.fntdata"/><Relationship Id="rId13" Type="http://schemas.openxmlformats.org/officeDocument/2006/relationships/slide" Target="slides/slide8.xml"/><Relationship Id="rId35" Type="http://schemas.openxmlformats.org/officeDocument/2006/relationships/font" Target="fonts/InterMedium-boldItalic.fntdata"/><Relationship Id="rId12" Type="http://schemas.openxmlformats.org/officeDocument/2006/relationships/slide" Target="slides/slide7.xml"/><Relationship Id="rId34" Type="http://schemas.openxmlformats.org/officeDocument/2006/relationships/font" Target="fonts/InterMedium-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MontserratSemiBold-bold.fntdata"/><Relationship Id="rId16" Type="http://schemas.openxmlformats.org/officeDocument/2006/relationships/font" Target="fonts/MontserratSemiBold-regular.fntdata"/><Relationship Id="rId19" Type="http://schemas.openxmlformats.org/officeDocument/2006/relationships/font" Target="fonts/MontserratSemiBold-boldItalic.fntdata"/><Relationship Id="rId18" Type="http://schemas.openxmlformats.org/officeDocument/2006/relationships/font" Target="fonts/MontserratSemi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593892b6e_2_75: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 name="Google Shape;52;g3f593892b6e_2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Good afternoon. Today our team is presenting an empirical evaluation of four distinct algorithmic paradigms for solving the Unweighted Set Cover Problem.</a:t>
            </a:r>
            <a:endParaRPr/>
          </a:p>
        </p:txBody>
      </p:sp>
      <p:sp>
        <p:nvSpPr>
          <p:cNvPr id="53" name="Google Shape;53;g3f593892b6e_2_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f593892b6e_2_82: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 name="Google Shape;71;g3f593892b6e_2_8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Set Cover Problem asks what is the fewest number of subsets needed to cover every element in a universe. Because it is NP-hard, finding exact answers becomes exponentially difficult as problem sizes scale.</a:t>
            </a:r>
            <a:endParaRPr/>
          </a:p>
        </p:txBody>
      </p:sp>
      <p:sp>
        <p:nvSpPr>
          <p:cNvPr id="72" name="Google Shape;72;g3f593892b6e_2_8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593892b6e_2_88: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 name="Google Shape;89;g3f593892b6e_2_8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We framed our investigation around two primary questions: can stochastic metaheuristics beat local myopic traps that fool greedy choices, and where exactly does exact Integer Linear Programming become intractable?</a:t>
            </a:r>
            <a:endParaRPr/>
          </a:p>
        </p:txBody>
      </p:sp>
      <p:sp>
        <p:nvSpPr>
          <p:cNvPr id="90" name="Google Shape;90;g3f593892b6e_2_8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f593892b6e_2_94: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g3f593892b6e_2_9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Here we see our four algorithmic paradigms. ILP gives guaranteed mathematical exactness at the cost of potential exponential runtime. Greedy offers ultra-fast execution, while GA and HS bound runtime via generation limits.</a:t>
            </a:r>
            <a:endParaRPr/>
          </a:p>
        </p:txBody>
      </p:sp>
      <p:sp>
        <p:nvSpPr>
          <p:cNvPr id="106" name="Google Shape;106;g3f593892b6e_2_9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f593892b6e_2_100: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g3f593892b6e_2_10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On the standard academic benchmark scp41, the Greedy heuristic got trapped at 6 subsets. Both GA and Harmony Search found the true optimal cover size of 5, but Harmony Search did so in just 11.6 milliseconds.</a:t>
            </a:r>
            <a:endParaRPr/>
          </a:p>
        </p:txBody>
      </p:sp>
      <p:sp>
        <p:nvSpPr>
          <p:cNvPr id="126" name="Google Shape;126;g3f593892b6e_2_10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f593892b6e_2_106: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g3f593892b6e_2_10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Looking at runtime scaling across synthetic datasets, ILP clearly displays its exponential curve, hitting our 60-second safety cutoff at N=512 and failing entirely at N=2048.</a:t>
            </a:r>
            <a:endParaRPr/>
          </a:p>
        </p:txBody>
      </p:sp>
      <p:sp>
        <p:nvSpPr>
          <p:cNvPr id="148" name="Google Shape;148;g3f593892b6e_2_10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f593892b6e_2_113: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g3f593892b6e_2_1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Greedy performed exceptionally well on synthetic data, staying right next to the exact baseline. Un-guided GA and HS suffered from search-space explosion during repair phases on dense matrices.</a:t>
            </a:r>
            <a:endParaRPr/>
          </a:p>
        </p:txBody>
      </p:sp>
      <p:sp>
        <p:nvSpPr>
          <p:cNvPr id="164" name="Google Shape;164;g3f593892b6e_2_1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f593892b6e_2_120: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g3f593892b6e_2_1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To summarize the trade-offs: use ILP when you need 100% exact solutions on small problems; use Greedy for real-time results on massive dense grids; and use Metaheuristics on complex sparse structures where greedy choices fail.</a:t>
            </a:r>
            <a:endParaRPr/>
          </a:p>
        </p:txBody>
      </p:sp>
      <p:sp>
        <p:nvSpPr>
          <p:cNvPr id="177" name="Google Shape;177;g3f593892b6e_2_1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f593892b6e_2_126: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 name="Google Shape;193;g3f593892b6e_2_1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Our codebase was built with strict modular design in Python. In alignment with TTU academic integrity guidelines, Generative AI was utilized strictly for code formatting, visualization styling, and documentation proofreading.</a:t>
            </a:r>
            <a:endParaRPr/>
          </a:p>
        </p:txBody>
      </p:sp>
      <p:sp>
        <p:nvSpPr>
          <p:cNvPr id="194" name="Google Shape;194;g3f593892b6e_2_1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f593892b6e_2_132: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g3f593892b6e_2_1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Thank you for your time!</a:t>
            </a:r>
            <a:br>
              <a:rPr lang="en"/>
            </a:br>
            <a:br>
              <a:rPr lang="en"/>
            </a:br>
            <a:r>
              <a:rPr b="1" lang="en" sz="1100">
                <a:solidFill>
                  <a:schemeClr val="dk1"/>
                </a:solidFill>
              </a:rPr>
              <a:t>"What was the point of this whole project?"</a:t>
            </a:r>
            <a:r>
              <a:rPr lang="en" sz="1100">
                <a:solidFill>
                  <a:schemeClr val="dk1"/>
                </a:solidFill>
              </a:rPr>
              <a:t>, here is the big picture in plain English:</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i="1" lang="en" sz="1100">
                <a:solidFill>
                  <a:schemeClr val="dk1"/>
                </a:solidFill>
              </a:rPr>
              <a:t>"Because the Set Cover Problem is NP-hard, there is no single 'best' algorithm for every situation. Our project proved that </a:t>
            </a:r>
            <a:r>
              <a:rPr b="1" i="1" lang="en" sz="1100">
                <a:solidFill>
                  <a:schemeClr val="dk1"/>
                </a:solidFill>
              </a:rPr>
              <a:t>algorithmic choice is a strict trade-off between time and solution quality</a:t>
            </a:r>
            <a:r>
              <a:rPr i="1" lang="en" sz="1100">
                <a:solidFill>
                  <a:schemeClr val="dk1"/>
                </a:solidFill>
              </a:rPr>
              <a:t>. While exact math solvers (ILP) give perfect answers, they hit an exponential computational wall on larger datasets. On the other hand, while complex evolutionary algorithms (GA/HS) sound superior, a simple, ultra-fast </a:t>
            </a:r>
            <a:r>
              <a:rPr b="1" i="1" lang="en" sz="1100">
                <a:solidFill>
                  <a:schemeClr val="dk1"/>
                </a:solidFill>
              </a:rPr>
              <a:t>Greedy Heuristic</a:t>
            </a:r>
            <a:r>
              <a:rPr i="1" lang="en" sz="1100">
                <a:solidFill>
                  <a:schemeClr val="dk1"/>
                </a:solidFill>
              </a:rPr>
              <a:t> often outperforms them on standard random inputs because metaheuristics suffer when their parameters aren't tuned specifically for larger scales."</a:t>
            </a:r>
            <a:endParaRPr i="1"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Why Does This Matter in the Real World?</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Set Cover powers real-world optimization problems such as:</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Cell tower placement:</a:t>
            </a:r>
            <a:r>
              <a:rPr lang="en" sz="1100">
                <a:solidFill>
                  <a:schemeClr val="dk1"/>
                </a:solidFill>
              </a:rPr>
              <a:t> Covering every neighborhood with the fewest towers.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Airline crew scheduling:</a:t>
            </a:r>
            <a:r>
              <a:rPr lang="en" sz="1100">
                <a:solidFill>
                  <a:schemeClr val="dk1"/>
                </a:solidFill>
              </a:rPr>
              <a:t> Covering every flight segment with the fewest flight crews.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Database indexing:</a:t>
            </a:r>
            <a:r>
              <a:rPr lang="en" sz="1100">
                <a:solidFill>
                  <a:schemeClr val="dk1"/>
                </a:solidFill>
              </a:rPr>
              <a:t> Covering all search query types with the minimum set of indexes.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Your project gives engineers a practical playbook: </a:t>
            </a:r>
            <a:r>
              <a:rPr b="1" lang="en" sz="1100">
                <a:solidFill>
                  <a:schemeClr val="dk1"/>
                </a:solidFill>
              </a:rPr>
              <a:t>Use ILP for small/medium instances, use Greedy for fast real-time applications at scale, and use tuned Metaheuristics when dealing with complex, highly non-linear constraints.</a:t>
            </a:r>
            <a:endParaRPr b="1" sz="1100">
              <a:solidFill>
                <a:schemeClr val="dk1"/>
              </a:solidFill>
            </a:endParaRPr>
          </a:p>
          <a:p>
            <a:pPr indent="0" lvl="0" marL="0" rtl="0" algn="l">
              <a:spcBef>
                <a:spcPts val="1200"/>
              </a:spcBef>
              <a:spcAft>
                <a:spcPts val="0"/>
              </a:spcAft>
              <a:buNone/>
            </a:pPr>
            <a:r>
              <a:t/>
            </a:r>
            <a:endParaRPr/>
          </a:p>
        </p:txBody>
      </p:sp>
      <p:sp>
        <p:nvSpPr>
          <p:cNvPr id="211" name="Google Shape;211;g3f593892b6e_2_1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hyperlink" Target="http://github.com/matthew-richardson-ai/SetCover_Greedy_ILP_HS_GA_ORLibrary"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 name="Shape 54"/>
        <p:cNvGrpSpPr/>
        <p:nvPr/>
      </p:nvGrpSpPr>
      <p:grpSpPr>
        <a:xfrm>
          <a:off x="0" y="0"/>
          <a:ext cx="0" cy="0"/>
          <a:chOff x="0" y="0"/>
          <a:chExt cx="0" cy="0"/>
        </a:xfrm>
      </p:grpSpPr>
      <p:sp>
        <p:nvSpPr>
          <p:cNvPr id="55" name="Google Shape;55;p13"/>
          <p:cNvSpPr/>
          <p:nvPr/>
        </p:nvSpPr>
        <p:spPr>
          <a:xfrm>
            <a:off x="5715000" y="-1905000"/>
            <a:ext cx="5715000" cy="5715000"/>
          </a:xfrm>
          <a:prstGeom prst="ellipse">
            <a:avLst/>
          </a:prstGeom>
          <a:solidFill>
            <a:srgbClr val="1C2541">
              <a:alpha val="3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 name="Google Shape;56;p13"/>
          <p:cNvSpPr/>
          <p:nvPr/>
        </p:nvSpPr>
        <p:spPr>
          <a:xfrm>
            <a:off x="-952500" y="2381250"/>
            <a:ext cx="3810000" cy="3810000"/>
          </a:xfrm>
          <a:prstGeom prst="ellipse">
            <a:avLst/>
          </a:prstGeom>
          <a:solidFill>
            <a:srgbClr val="3A506B">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 name="Google Shape;57;p13"/>
          <p:cNvSpPr txBox="1"/>
          <p:nvPr/>
        </p:nvSpPr>
        <p:spPr>
          <a:xfrm>
            <a:off x="762000" y="714375"/>
            <a:ext cx="3429000" cy="1714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935">
                <a:solidFill>
                  <a:srgbClr val="64FFDA"/>
                </a:solidFill>
                <a:latin typeface="Montserrat"/>
                <a:ea typeface="Montserrat"/>
                <a:cs typeface="Montserrat"/>
                <a:sym typeface="Montserrat"/>
              </a:rPr>
              <a:t>Algorithm Performance Study</a:t>
            </a:r>
            <a:endParaRPr b="1" sz="935">
              <a:solidFill>
                <a:srgbClr val="64FFDA"/>
              </a:solidFill>
              <a:latin typeface="Montserrat"/>
              <a:ea typeface="Montserrat"/>
              <a:cs typeface="Montserrat"/>
              <a:sym typeface="Montserrat"/>
            </a:endParaRPr>
          </a:p>
          <a:p>
            <a:pPr indent="0" lvl="0" marL="0" rtl="0" algn="l">
              <a:spcBef>
                <a:spcPts val="600"/>
              </a:spcBef>
              <a:spcAft>
                <a:spcPts val="0"/>
              </a:spcAft>
              <a:buNone/>
            </a:pPr>
            <a:r>
              <a:rPr b="0" lang="en" sz="2380">
                <a:solidFill>
                  <a:srgbClr val="FFFFFF"/>
                </a:solidFill>
                <a:latin typeface="Montserrat ExtraBold"/>
                <a:ea typeface="Montserrat ExtraBold"/>
                <a:cs typeface="Montserrat ExtraBold"/>
                <a:sym typeface="Montserrat ExtraBold"/>
              </a:rPr>
              <a:t>Empirical Performance Analysis</a:t>
            </a:r>
            <a:endParaRPr b="1" sz="935">
              <a:solidFill>
                <a:srgbClr val="64FFDA"/>
              </a:solidFill>
              <a:latin typeface="Montserrat"/>
              <a:ea typeface="Montserrat"/>
              <a:cs typeface="Montserrat"/>
              <a:sym typeface="Montserrat"/>
            </a:endParaRPr>
          </a:p>
          <a:p>
            <a:pPr indent="0" lvl="0" marL="0" rtl="0" algn="l">
              <a:spcBef>
                <a:spcPts val="750"/>
              </a:spcBef>
              <a:spcAft>
                <a:spcPts val="0"/>
              </a:spcAft>
              <a:buNone/>
            </a:pPr>
            <a:r>
              <a:rPr b="0" lang="en" sz="1530">
                <a:solidFill>
                  <a:srgbClr val="38BDF8"/>
                </a:solidFill>
                <a:latin typeface="Montserrat SemiBold"/>
                <a:ea typeface="Montserrat SemiBold"/>
                <a:cs typeface="Montserrat SemiBold"/>
                <a:sym typeface="Montserrat SemiBold"/>
              </a:rPr>
              <a:t>Unweighted Set Cover Problem</a:t>
            </a:r>
            <a:endParaRPr b="1" sz="935">
              <a:solidFill>
                <a:srgbClr val="64FFDA"/>
              </a:solidFill>
              <a:latin typeface="Montserrat"/>
              <a:ea typeface="Montserrat"/>
              <a:cs typeface="Montserrat"/>
              <a:sym typeface="Montserrat"/>
            </a:endParaRPr>
          </a:p>
        </p:txBody>
      </p:sp>
      <p:sp>
        <p:nvSpPr>
          <p:cNvPr id="58" name="Google Shape;58;p13"/>
          <p:cNvSpPr txBox="1"/>
          <p:nvPr/>
        </p:nvSpPr>
        <p:spPr>
          <a:xfrm>
            <a:off x="762000" y="2667000"/>
            <a:ext cx="3429000" cy="857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38BDF8"/>
                </a:solidFill>
                <a:latin typeface="Inter"/>
                <a:ea typeface="Inter"/>
                <a:cs typeface="Inter"/>
                <a:sym typeface="Inter"/>
              </a:rPr>
              <a:t>Course</a:t>
            </a:r>
            <a:endParaRPr b="1" sz="900">
              <a:solidFill>
                <a:srgbClr val="38BDF8"/>
              </a:solidFill>
              <a:latin typeface="Inter"/>
              <a:ea typeface="Inter"/>
              <a:cs typeface="Inter"/>
              <a:sym typeface="Inter"/>
            </a:endParaRPr>
          </a:p>
          <a:p>
            <a:pPr indent="0" lvl="0" marL="0" rtl="0" algn="l">
              <a:spcBef>
                <a:spcPts val="300"/>
              </a:spcBef>
              <a:spcAft>
                <a:spcPts val="0"/>
              </a:spcAft>
              <a:buNone/>
            </a:pPr>
            <a:r>
              <a:rPr b="1" lang="en" sz="1500">
                <a:solidFill>
                  <a:srgbClr val="FFFFFF"/>
                </a:solidFill>
                <a:latin typeface="Inter"/>
                <a:ea typeface="Inter"/>
                <a:cs typeface="Inter"/>
                <a:sym typeface="Inter"/>
              </a:rPr>
              <a:t>CSC 2400</a:t>
            </a:r>
            <a:endParaRPr b="1" sz="900">
              <a:solidFill>
                <a:srgbClr val="38BDF8"/>
              </a:solidFill>
              <a:latin typeface="Inter"/>
              <a:ea typeface="Inter"/>
              <a:cs typeface="Inter"/>
              <a:sym typeface="Inter"/>
            </a:endParaRPr>
          </a:p>
          <a:p>
            <a:pPr indent="0" lvl="0" marL="0" rtl="0" algn="l">
              <a:spcBef>
                <a:spcPts val="150"/>
              </a:spcBef>
              <a:spcAft>
                <a:spcPts val="0"/>
              </a:spcAft>
              <a:buNone/>
            </a:pPr>
            <a:r>
              <a:rPr b="0" lang="en" sz="1100">
                <a:solidFill>
                  <a:srgbClr val="94A3B8"/>
                </a:solidFill>
                <a:latin typeface="Inter"/>
                <a:ea typeface="Inter"/>
                <a:cs typeface="Inter"/>
                <a:sym typeface="Inter"/>
              </a:rPr>
              <a:t>Design and Analysis of Algorithms</a:t>
            </a:r>
            <a:endParaRPr b="1" sz="900">
              <a:solidFill>
                <a:srgbClr val="38BDF8"/>
              </a:solidFill>
              <a:latin typeface="Inter"/>
              <a:ea typeface="Inter"/>
              <a:cs typeface="Inter"/>
              <a:sym typeface="Inter"/>
            </a:endParaRPr>
          </a:p>
        </p:txBody>
      </p:sp>
      <p:sp>
        <p:nvSpPr>
          <p:cNvPr id="59" name="Google Shape;59;p13"/>
          <p:cNvSpPr txBox="1"/>
          <p:nvPr/>
        </p:nvSpPr>
        <p:spPr>
          <a:xfrm>
            <a:off x="762000" y="3714750"/>
            <a:ext cx="3429000" cy="857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38BDF8"/>
                </a:solidFill>
                <a:latin typeface="Inter"/>
                <a:ea typeface="Inter"/>
                <a:cs typeface="Inter"/>
                <a:sym typeface="Inter"/>
              </a:rPr>
              <a:t>Research Authors</a:t>
            </a:r>
            <a:endParaRPr b="1" sz="900">
              <a:solidFill>
                <a:srgbClr val="38BDF8"/>
              </a:solidFill>
              <a:latin typeface="Inter"/>
              <a:ea typeface="Inter"/>
              <a:cs typeface="Inter"/>
              <a:sym typeface="Inter"/>
            </a:endParaRPr>
          </a:p>
          <a:p>
            <a:pPr indent="0" lvl="0" marL="0" rtl="0" algn="l">
              <a:spcBef>
                <a:spcPts val="300"/>
              </a:spcBef>
              <a:spcAft>
                <a:spcPts val="0"/>
              </a:spcAft>
              <a:buNone/>
            </a:pPr>
            <a:r>
              <a:rPr b="0" lang="en" sz="1200">
                <a:solidFill>
                  <a:srgbClr val="FFFFFF"/>
                </a:solidFill>
                <a:latin typeface="Inter SemiBold"/>
                <a:ea typeface="Inter SemiBold"/>
                <a:cs typeface="Inter SemiBold"/>
                <a:sym typeface="Inter SemiBold"/>
              </a:rPr>
              <a:t>Ian Phillips</a:t>
            </a:r>
            <a:br>
              <a:rPr lang="en" sz="1200">
                <a:solidFill>
                  <a:srgbClr val="FFFFFF"/>
                </a:solidFill>
                <a:latin typeface="Inter SemiBold"/>
                <a:ea typeface="Inter SemiBold"/>
                <a:cs typeface="Inter SemiBold"/>
                <a:sym typeface="Inter SemiBold"/>
              </a:rPr>
            </a:br>
            <a:r>
              <a:rPr b="0" lang="en" sz="1200">
                <a:solidFill>
                  <a:srgbClr val="FFFFFF"/>
                </a:solidFill>
                <a:latin typeface="Inter SemiBold"/>
                <a:ea typeface="Inter SemiBold"/>
                <a:cs typeface="Inter SemiBold"/>
                <a:sym typeface="Inter SemiBold"/>
              </a:rPr>
              <a:t>Abdullah Javed</a:t>
            </a:r>
            <a:br>
              <a:rPr lang="en" sz="1200">
                <a:solidFill>
                  <a:srgbClr val="FFFFFF"/>
                </a:solidFill>
                <a:latin typeface="Inter SemiBold"/>
                <a:ea typeface="Inter SemiBold"/>
                <a:cs typeface="Inter SemiBold"/>
                <a:sym typeface="Inter SemiBold"/>
              </a:rPr>
            </a:br>
            <a:r>
              <a:rPr b="0" lang="en" sz="1200">
                <a:solidFill>
                  <a:srgbClr val="FFFFFF"/>
                </a:solidFill>
                <a:latin typeface="Inter SemiBold"/>
                <a:ea typeface="Inter SemiBold"/>
                <a:cs typeface="Inter SemiBold"/>
                <a:sym typeface="Inter SemiBold"/>
              </a:rPr>
              <a:t>Matthew Richardson</a:t>
            </a:r>
            <a:endParaRPr b="1" sz="900">
              <a:solidFill>
                <a:srgbClr val="38BDF8"/>
              </a:solidFill>
              <a:latin typeface="Inter"/>
              <a:ea typeface="Inter"/>
              <a:cs typeface="Inter"/>
              <a:sym typeface="Inter"/>
            </a:endParaRPr>
          </a:p>
        </p:txBody>
      </p:sp>
      <p:grpSp>
        <p:nvGrpSpPr>
          <p:cNvPr id="60" name="Google Shape;60;p13"/>
          <p:cNvGrpSpPr/>
          <p:nvPr/>
        </p:nvGrpSpPr>
        <p:grpSpPr>
          <a:xfrm>
            <a:off x="4572000" y="714375"/>
            <a:ext cx="3810000" cy="1047900"/>
            <a:chOff x="0" y="0"/>
            <a:chExt cx="3810000" cy="1047900"/>
          </a:xfrm>
        </p:grpSpPr>
        <p:sp>
          <p:nvSpPr>
            <p:cNvPr id="61" name="Google Shape;61;p13"/>
            <p:cNvSpPr/>
            <p:nvPr/>
          </p:nvSpPr>
          <p:spPr>
            <a:xfrm>
              <a:off x="0" y="0"/>
              <a:ext cx="3810000" cy="1047900"/>
            </a:xfrm>
            <a:prstGeom prst="roundRect">
              <a:avLst>
                <a:gd fmla="val 7272" name="adj"/>
              </a:avLst>
            </a:prstGeom>
            <a:solidFill>
              <a:srgbClr val="1C2541"/>
            </a:solidFill>
            <a:ln cap="flat" cmpd="sng" w="9525">
              <a:solidFill>
                <a:srgbClr val="3A506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 name="Google Shape;62;p13"/>
            <p:cNvSpPr txBox="1"/>
            <p:nvPr/>
          </p:nvSpPr>
          <p:spPr>
            <a:xfrm>
              <a:off x="152400" y="114300"/>
              <a:ext cx="3505200" cy="819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64FFDA"/>
                  </a:solidFill>
                  <a:latin typeface="Inter"/>
                  <a:ea typeface="Inter"/>
                  <a:cs typeface="Inter"/>
                  <a:sym typeface="Inter"/>
                </a:rPr>
                <a:t>Method 01</a:t>
              </a:r>
              <a:endParaRPr b="1" sz="900">
                <a:solidFill>
                  <a:srgbClr val="64FFDA"/>
                </a:solidFill>
                <a:latin typeface="Inter"/>
                <a:ea typeface="Inter"/>
                <a:cs typeface="Inter"/>
                <a:sym typeface="Inter"/>
              </a:endParaRPr>
            </a:p>
            <a:p>
              <a:pPr indent="0" lvl="0" marL="0" rtl="0" algn="l">
                <a:spcBef>
                  <a:spcPts val="150"/>
                </a:spcBef>
                <a:spcAft>
                  <a:spcPts val="0"/>
                </a:spcAft>
                <a:buNone/>
              </a:pPr>
              <a:r>
                <a:rPr b="1" lang="en" sz="1600">
                  <a:solidFill>
                    <a:srgbClr val="FFFFFF"/>
                  </a:solidFill>
                  <a:latin typeface="Inter"/>
                  <a:ea typeface="Inter"/>
                  <a:cs typeface="Inter"/>
                  <a:sym typeface="Inter"/>
                </a:rPr>
                <a:t>Exact Solver</a:t>
              </a:r>
              <a:endParaRPr b="1" sz="1600">
                <a:solidFill>
                  <a:srgbClr val="FFFFFF"/>
                </a:solidFill>
                <a:latin typeface="Inter"/>
                <a:ea typeface="Inter"/>
                <a:cs typeface="Inter"/>
                <a:sym typeface="Inter"/>
              </a:endParaRPr>
            </a:p>
            <a:p>
              <a:pPr indent="0" lvl="0" marL="0" rtl="0" algn="l">
                <a:spcBef>
                  <a:spcPts val="300"/>
                </a:spcBef>
                <a:spcAft>
                  <a:spcPts val="0"/>
                </a:spcAft>
                <a:buNone/>
              </a:pPr>
              <a:r>
                <a:rPr b="0" lang="en" sz="1100">
                  <a:solidFill>
                    <a:srgbClr val="94A3B8"/>
                  </a:solidFill>
                  <a:latin typeface="Inter"/>
                  <a:ea typeface="Inter"/>
                  <a:cs typeface="Inter"/>
                  <a:sym typeface="Inter"/>
                </a:rPr>
                <a:t>Integer Linear Programming (ILP)</a:t>
              </a:r>
              <a:endParaRPr b="0" sz="1100">
                <a:solidFill>
                  <a:srgbClr val="94A3B8"/>
                </a:solidFill>
                <a:latin typeface="Inter"/>
                <a:ea typeface="Inter"/>
                <a:cs typeface="Inter"/>
                <a:sym typeface="Inter"/>
              </a:endParaRPr>
            </a:p>
          </p:txBody>
        </p:sp>
      </p:grpSp>
      <p:grpSp>
        <p:nvGrpSpPr>
          <p:cNvPr id="63" name="Google Shape;63;p13"/>
          <p:cNvGrpSpPr/>
          <p:nvPr/>
        </p:nvGrpSpPr>
        <p:grpSpPr>
          <a:xfrm>
            <a:off x="4572000" y="1952625"/>
            <a:ext cx="3810000" cy="1047900"/>
            <a:chOff x="0" y="0"/>
            <a:chExt cx="3810000" cy="1047900"/>
          </a:xfrm>
        </p:grpSpPr>
        <p:sp>
          <p:nvSpPr>
            <p:cNvPr id="64" name="Google Shape;64;p13"/>
            <p:cNvSpPr/>
            <p:nvPr/>
          </p:nvSpPr>
          <p:spPr>
            <a:xfrm>
              <a:off x="0" y="0"/>
              <a:ext cx="3810000" cy="1047900"/>
            </a:xfrm>
            <a:prstGeom prst="roundRect">
              <a:avLst>
                <a:gd fmla="val 7272" name="adj"/>
              </a:avLst>
            </a:prstGeom>
            <a:solidFill>
              <a:srgbClr val="1C2541"/>
            </a:solidFill>
            <a:ln cap="flat" cmpd="sng" w="9525">
              <a:solidFill>
                <a:srgbClr val="3A506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 name="Google Shape;65;p13"/>
            <p:cNvSpPr txBox="1"/>
            <p:nvPr/>
          </p:nvSpPr>
          <p:spPr>
            <a:xfrm>
              <a:off x="152400" y="114300"/>
              <a:ext cx="3505200" cy="819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64FFDA"/>
                  </a:solidFill>
                  <a:latin typeface="Inter"/>
                  <a:ea typeface="Inter"/>
                  <a:cs typeface="Inter"/>
                  <a:sym typeface="Inter"/>
                </a:rPr>
                <a:t>Method 02</a:t>
              </a:r>
              <a:endParaRPr b="1" sz="900">
                <a:solidFill>
                  <a:srgbClr val="64FFDA"/>
                </a:solidFill>
                <a:latin typeface="Inter"/>
                <a:ea typeface="Inter"/>
                <a:cs typeface="Inter"/>
                <a:sym typeface="Inter"/>
              </a:endParaRPr>
            </a:p>
            <a:p>
              <a:pPr indent="0" lvl="0" marL="0" rtl="0" algn="l">
                <a:spcBef>
                  <a:spcPts val="150"/>
                </a:spcBef>
                <a:spcAft>
                  <a:spcPts val="0"/>
                </a:spcAft>
                <a:buNone/>
              </a:pPr>
              <a:r>
                <a:rPr b="1" lang="en" sz="1600">
                  <a:solidFill>
                    <a:srgbClr val="FFFFFF"/>
                  </a:solidFill>
                  <a:latin typeface="Inter"/>
                  <a:ea typeface="Inter"/>
                  <a:cs typeface="Inter"/>
                  <a:sym typeface="Inter"/>
                </a:rPr>
                <a:t>Greedy Heuristic</a:t>
              </a:r>
              <a:endParaRPr b="1" sz="1600">
                <a:solidFill>
                  <a:srgbClr val="FFFFFF"/>
                </a:solidFill>
                <a:latin typeface="Inter"/>
                <a:ea typeface="Inter"/>
                <a:cs typeface="Inter"/>
                <a:sym typeface="Inter"/>
              </a:endParaRPr>
            </a:p>
            <a:p>
              <a:pPr indent="0" lvl="0" marL="0" rtl="0" algn="l">
                <a:spcBef>
                  <a:spcPts val="300"/>
                </a:spcBef>
                <a:spcAft>
                  <a:spcPts val="0"/>
                </a:spcAft>
                <a:buNone/>
              </a:pPr>
              <a:r>
                <a:rPr b="0" lang="en" sz="1100">
                  <a:solidFill>
                    <a:srgbClr val="94A3B8"/>
                  </a:solidFill>
                  <a:latin typeface="Inter"/>
                  <a:ea typeface="Inter"/>
                  <a:cs typeface="Inter"/>
                  <a:sym typeface="Inter"/>
                </a:rPr>
                <a:t>Deterministic Greedy Approximation</a:t>
              </a:r>
              <a:endParaRPr b="0" sz="1100">
                <a:solidFill>
                  <a:srgbClr val="94A3B8"/>
                </a:solidFill>
                <a:latin typeface="Inter"/>
                <a:ea typeface="Inter"/>
                <a:cs typeface="Inter"/>
                <a:sym typeface="Inter"/>
              </a:endParaRPr>
            </a:p>
          </p:txBody>
        </p:sp>
      </p:grpSp>
      <p:grpSp>
        <p:nvGrpSpPr>
          <p:cNvPr id="66" name="Google Shape;66;p13"/>
          <p:cNvGrpSpPr/>
          <p:nvPr/>
        </p:nvGrpSpPr>
        <p:grpSpPr>
          <a:xfrm>
            <a:off x="4572000" y="3190875"/>
            <a:ext cx="3810000" cy="1238400"/>
            <a:chOff x="0" y="0"/>
            <a:chExt cx="3810000" cy="1238400"/>
          </a:xfrm>
        </p:grpSpPr>
        <p:sp>
          <p:nvSpPr>
            <p:cNvPr id="67" name="Google Shape;67;p13"/>
            <p:cNvSpPr/>
            <p:nvPr/>
          </p:nvSpPr>
          <p:spPr>
            <a:xfrm>
              <a:off x="0" y="0"/>
              <a:ext cx="3810000" cy="1238400"/>
            </a:xfrm>
            <a:prstGeom prst="roundRect">
              <a:avLst>
                <a:gd fmla="val 6153" name="adj"/>
              </a:avLst>
            </a:prstGeom>
            <a:solidFill>
              <a:srgbClr val="1C2541"/>
            </a:solidFill>
            <a:ln cap="flat" cmpd="sng" w="9525">
              <a:solidFill>
                <a:srgbClr val="3A506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 name="Google Shape;68;p13"/>
            <p:cNvSpPr txBox="1"/>
            <p:nvPr/>
          </p:nvSpPr>
          <p:spPr>
            <a:xfrm>
              <a:off x="152400" y="114300"/>
              <a:ext cx="3505200" cy="1009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64FFDA"/>
                  </a:solidFill>
                  <a:latin typeface="Inter"/>
                  <a:ea typeface="Inter"/>
                  <a:cs typeface="Inter"/>
                  <a:sym typeface="Inter"/>
                </a:rPr>
                <a:t>Method 03</a:t>
              </a:r>
              <a:endParaRPr b="1" sz="900">
                <a:solidFill>
                  <a:srgbClr val="64FFDA"/>
                </a:solidFill>
                <a:latin typeface="Inter"/>
                <a:ea typeface="Inter"/>
                <a:cs typeface="Inter"/>
                <a:sym typeface="Inter"/>
              </a:endParaRPr>
            </a:p>
            <a:p>
              <a:pPr indent="0" lvl="0" marL="0" rtl="0" algn="l">
                <a:spcBef>
                  <a:spcPts val="150"/>
                </a:spcBef>
                <a:spcAft>
                  <a:spcPts val="0"/>
                </a:spcAft>
                <a:buNone/>
              </a:pPr>
              <a:r>
                <a:rPr b="1" lang="en" sz="1600">
                  <a:solidFill>
                    <a:srgbClr val="FFFFFF"/>
                  </a:solidFill>
                  <a:latin typeface="Inter"/>
                  <a:ea typeface="Inter"/>
                  <a:cs typeface="Inter"/>
                  <a:sym typeface="Inter"/>
                </a:rPr>
                <a:t>Metaheuristics</a:t>
              </a:r>
              <a:endParaRPr b="1" sz="1600">
                <a:solidFill>
                  <a:srgbClr val="FFFFFF"/>
                </a:solidFill>
                <a:latin typeface="Inter"/>
                <a:ea typeface="Inter"/>
                <a:cs typeface="Inter"/>
                <a:sym typeface="Inter"/>
              </a:endParaRPr>
            </a:p>
            <a:p>
              <a:pPr indent="0" lvl="0" marL="0" rtl="0" algn="l">
                <a:spcBef>
                  <a:spcPts val="300"/>
                </a:spcBef>
                <a:spcAft>
                  <a:spcPts val="0"/>
                </a:spcAft>
                <a:buNone/>
              </a:pPr>
              <a:r>
                <a:rPr b="0" lang="en" sz="1100">
                  <a:solidFill>
                    <a:srgbClr val="94A3B8"/>
                  </a:solidFill>
                  <a:latin typeface="Inter"/>
                  <a:ea typeface="Inter"/>
                  <a:cs typeface="Inter"/>
                  <a:sym typeface="Inter"/>
                </a:rPr>
                <a:t>Genetic Algorithm (GA) &amp; Harmony Search (HS)</a:t>
              </a:r>
              <a:endParaRPr b="0" sz="1100">
                <a:solidFill>
                  <a:srgbClr val="94A3B8"/>
                </a:solidFill>
                <a:latin typeface="Inter"/>
                <a:ea typeface="Inter"/>
                <a:cs typeface="Inter"/>
                <a:sym typeface="Inte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 name="Shape 73"/>
        <p:cNvGrpSpPr/>
        <p:nvPr/>
      </p:nvGrpSpPr>
      <p:grpSpPr>
        <a:xfrm>
          <a:off x="0" y="0"/>
          <a:ext cx="0" cy="0"/>
          <a:chOff x="0" y="0"/>
          <a:chExt cx="0" cy="0"/>
        </a:xfrm>
      </p:grpSpPr>
      <p:sp>
        <p:nvSpPr>
          <p:cNvPr id="74" name="Google Shape;74;p14"/>
          <p:cNvSpPr txBox="1"/>
          <p:nvPr/>
        </p:nvSpPr>
        <p:spPr>
          <a:xfrm>
            <a:off x="571500" y="428625"/>
            <a:ext cx="800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FFFFFF"/>
                </a:solidFill>
                <a:latin typeface="Montserrat ExtraBold"/>
                <a:ea typeface="Montserrat ExtraBold"/>
                <a:cs typeface="Montserrat ExtraBold"/>
                <a:sym typeface="Montserrat ExtraBold"/>
              </a:rPr>
              <a:t>What is the Set Cover Problem (SCP)?</a:t>
            </a:r>
            <a:endParaRPr b="0" sz="2400">
              <a:solidFill>
                <a:srgbClr val="FFFFFF"/>
              </a:solidFill>
              <a:latin typeface="Montserrat ExtraBold"/>
              <a:ea typeface="Montserrat ExtraBold"/>
              <a:cs typeface="Montserrat ExtraBold"/>
              <a:sym typeface="Montserrat ExtraBold"/>
            </a:endParaRPr>
          </a:p>
        </p:txBody>
      </p:sp>
      <p:grpSp>
        <p:nvGrpSpPr>
          <p:cNvPr id="75" name="Google Shape;75;p14"/>
          <p:cNvGrpSpPr/>
          <p:nvPr/>
        </p:nvGrpSpPr>
        <p:grpSpPr>
          <a:xfrm>
            <a:off x="571500" y="1238250"/>
            <a:ext cx="3857700" cy="1571700"/>
            <a:chOff x="0" y="0"/>
            <a:chExt cx="3857700" cy="1571700"/>
          </a:xfrm>
        </p:grpSpPr>
        <p:sp>
          <p:nvSpPr>
            <p:cNvPr id="76" name="Google Shape;76;p14"/>
            <p:cNvSpPr/>
            <p:nvPr/>
          </p:nvSpPr>
          <p:spPr>
            <a:xfrm>
              <a:off x="0" y="0"/>
              <a:ext cx="3857700" cy="1571700"/>
            </a:xfrm>
            <a:prstGeom prst="roundRect">
              <a:avLst>
                <a:gd fmla="val 4848" name="adj"/>
              </a:avLst>
            </a:prstGeom>
            <a:solidFill>
              <a:srgbClr val="1C2541"/>
            </a:solidFill>
            <a:ln cap="flat" cmpd="sng" w="9525">
              <a:solidFill>
                <a:srgbClr val="3A506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 name="Google Shape;77;p14"/>
            <p:cNvSpPr txBox="1"/>
            <p:nvPr/>
          </p:nvSpPr>
          <p:spPr>
            <a:xfrm>
              <a:off x="142875" y="142875"/>
              <a:ext cx="35718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64FFDA"/>
                  </a:solidFill>
                  <a:latin typeface="Inter"/>
                  <a:ea typeface="Inter"/>
                  <a:cs typeface="Inter"/>
                  <a:sym typeface="Inter"/>
                </a:rPr>
                <a:t>FORMAL DEFINITION</a:t>
              </a:r>
              <a:endParaRPr b="1" sz="900">
                <a:solidFill>
                  <a:srgbClr val="64FFDA"/>
                </a:solidFill>
                <a:latin typeface="Inter"/>
                <a:ea typeface="Inter"/>
                <a:cs typeface="Inter"/>
                <a:sym typeface="Inter"/>
              </a:endParaRPr>
            </a:p>
            <a:p>
              <a:pPr indent="0" lvl="0" marL="0" rtl="0" algn="l">
                <a:spcBef>
                  <a:spcPts val="600"/>
                </a:spcBef>
                <a:spcAft>
                  <a:spcPts val="0"/>
                </a:spcAft>
                <a:buNone/>
              </a:pPr>
              <a:r>
                <a:rPr b="0" lang="en" sz="1100">
                  <a:solidFill>
                    <a:srgbClr val="94A3B8"/>
                  </a:solidFill>
                  <a:latin typeface="Inter"/>
                  <a:ea typeface="Inter"/>
                  <a:cs typeface="Inter"/>
                  <a:sym typeface="Inter"/>
                </a:rPr>
                <a:t>Given universe </a:t>
              </a:r>
              <a:r>
                <a:rPr b="0" lang="en" sz="1100">
                  <a:solidFill>
                    <a:srgbClr val="FFFFFF"/>
                  </a:solidFill>
                  <a:latin typeface="Inter SemiBold"/>
                  <a:ea typeface="Inter SemiBold"/>
                  <a:cs typeface="Inter SemiBold"/>
                  <a:sym typeface="Inter SemiBold"/>
                </a:rPr>
                <a:t>U = {1, ..., n}</a:t>
              </a:r>
              <a:r>
                <a:rPr b="0" lang="en" sz="1100">
                  <a:solidFill>
                    <a:srgbClr val="94A3B8"/>
                  </a:solidFill>
                  <a:latin typeface="Inter"/>
                  <a:ea typeface="Inter"/>
                  <a:cs typeface="Inter"/>
                  <a:sym typeface="Inter"/>
                </a:rPr>
                <a:t> and subsets </a:t>
              </a:r>
              <a:r>
                <a:rPr b="0" lang="en" sz="1100">
                  <a:solidFill>
                    <a:srgbClr val="FFFFFF"/>
                  </a:solidFill>
                  <a:latin typeface="Inter SemiBold"/>
                  <a:ea typeface="Inter SemiBold"/>
                  <a:cs typeface="Inter SemiBold"/>
                  <a:sym typeface="Inter SemiBold"/>
                </a:rPr>
                <a:t>S = {S1, ..., Sm}</a:t>
              </a:r>
              <a:r>
                <a:rPr b="0" lang="en" sz="1100">
                  <a:solidFill>
                    <a:srgbClr val="94A3B8"/>
                  </a:solidFill>
                  <a:latin typeface="Inter"/>
                  <a:ea typeface="Inter"/>
                  <a:cs typeface="Inter"/>
                  <a:sym typeface="Inter"/>
                </a:rPr>
                <a:t>, select </a:t>
              </a:r>
              <a:r>
                <a:rPr b="0" lang="en" sz="1100">
                  <a:solidFill>
                    <a:srgbClr val="64FFDA"/>
                  </a:solidFill>
                  <a:latin typeface="Inter SemiBold"/>
                  <a:ea typeface="Inter SemiBold"/>
                  <a:cs typeface="Inter SemiBold"/>
                  <a:sym typeface="Inter SemiBold"/>
                </a:rPr>
                <a:t>S' ⊆ S</a:t>
              </a:r>
              <a:r>
                <a:rPr b="0" lang="en" sz="1100">
                  <a:solidFill>
                    <a:srgbClr val="94A3B8"/>
                  </a:solidFill>
                  <a:latin typeface="Inter"/>
                  <a:ea typeface="Inter"/>
                  <a:cs typeface="Inter"/>
                  <a:sym typeface="Inter"/>
                </a:rPr>
                <a:t> of minimal cardinality such that </a:t>
              </a:r>
              <a:r>
                <a:rPr b="0" lang="en" sz="1100">
                  <a:solidFill>
                    <a:srgbClr val="FFFFFF"/>
                  </a:solidFill>
                  <a:latin typeface="Inter SemiBold"/>
                  <a:ea typeface="Inter SemiBold"/>
                  <a:cs typeface="Inter SemiBold"/>
                  <a:sym typeface="Inter SemiBold"/>
                </a:rPr>
                <a:t>⋃ Sj = U</a:t>
              </a:r>
              <a:r>
                <a:rPr b="0" lang="en" sz="1100">
                  <a:solidFill>
                    <a:srgbClr val="94A3B8"/>
                  </a:solidFill>
                  <a:latin typeface="Inter"/>
                  <a:ea typeface="Inter"/>
                  <a:cs typeface="Inter"/>
                  <a:sym typeface="Inter"/>
                </a:rPr>
                <a:t>.</a:t>
              </a:r>
              <a:endParaRPr b="0" sz="1100">
                <a:solidFill>
                  <a:srgbClr val="94A3B8"/>
                </a:solidFill>
                <a:latin typeface="Inter"/>
                <a:ea typeface="Inter"/>
                <a:cs typeface="Inter"/>
                <a:sym typeface="Inter"/>
              </a:endParaRPr>
            </a:p>
          </p:txBody>
        </p:sp>
      </p:grpSp>
      <p:grpSp>
        <p:nvGrpSpPr>
          <p:cNvPr id="78" name="Google Shape;78;p14"/>
          <p:cNvGrpSpPr/>
          <p:nvPr/>
        </p:nvGrpSpPr>
        <p:grpSpPr>
          <a:xfrm>
            <a:off x="4714875" y="1238250"/>
            <a:ext cx="3857700" cy="1571700"/>
            <a:chOff x="0" y="0"/>
            <a:chExt cx="3857700" cy="1571700"/>
          </a:xfrm>
        </p:grpSpPr>
        <p:sp>
          <p:nvSpPr>
            <p:cNvPr id="79" name="Google Shape;79;p14"/>
            <p:cNvSpPr/>
            <p:nvPr/>
          </p:nvSpPr>
          <p:spPr>
            <a:xfrm>
              <a:off x="0" y="0"/>
              <a:ext cx="3857700" cy="1571700"/>
            </a:xfrm>
            <a:prstGeom prst="roundRect">
              <a:avLst>
                <a:gd fmla="val 4848" name="adj"/>
              </a:avLst>
            </a:prstGeom>
            <a:solidFill>
              <a:srgbClr val="1C2541"/>
            </a:solidFill>
            <a:ln cap="flat" cmpd="sng" w="9525">
              <a:solidFill>
                <a:srgbClr val="3A506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 name="Google Shape;80;p14"/>
            <p:cNvSpPr txBox="1"/>
            <p:nvPr/>
          </p:nvSpPr>
          <p:spPr>
            <a:xfrm>
              <a:off x="142875" y="142875"/>
              <a:ext cx="35718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38BDF8"/>
                  </a:solidFill>
                  <a:latin typeface="Inter"/>
                  <a:ea typeface="Inter"/>
                  <a:cs typeface="Inter"/>
                  <a:sym typeface="Inter"/>
                </a:rPr>
                <a:t>OPTIMIZATION TARGET</a:t>
              </a:r>
              <a:endParaRPr b="1" sz="900">
                <a:solidFill>
                  <a:srgbClr val="38BDF8"/>
                </a:solidFill>
                <a:latin typeface="Inter"/>
                <a:ea typeface="Inter"/>
                <a:cs typeface="Inter"/>
                <a:sym typeface="Inter"/>
              </a:endParaRPr>
            </a:p>
            <a:p>
              <a:pPr indent="0" lvl="0" marL="0" rtl="0" algn="l">
                <a:spcBef>
                  <a:spcPts val="600"/>
                </a:spcBef>
                <a:spcAft>
                  <a:spcPts val="0"/>
                </a:spcAft>
                <a:buNone/>
              </a:pPr>
              <a:r>
                <a:rPr b="0" lang="en" sz="1100">
                  <a:solidFill>
                    <a:srgbClr val="FFFFFF"/>
                  </a:solidFill>
                  <a:latin typeface="Inter SemiBold"/>
                  <a:ea typeface="Inter SemiBold"/>
                  <a:cs typeface="Inter SemiBold"/>
                  <a:sym typeface="Inter SemiBold"/>
                </a:rPr>
                <a:t>Minimize total subsets</a:t>
              </a:r>
              <a:r>
                <a:rPr b="0" lang="en" sz="1100">
                  <a:solidFill>
                    <a:srgbClr val="94A3B8"/>
                  </a:solidFill>
                  <a:latin typeface="Inter"/>
                  <a:ea typeface="Inter"/>
                  <a:cs typeface="Inter"/>
                  <a:sym typeface="Inter"/>
                </a:rPr>
                <a:t> picked while ensuring </a:t>
              </a:r>
              <a:r>
                <a:rPr b="0" lang="en" sz="1100">
                  <a:solidFill>
                    <a:srgbClr val="38BDF8"/>
                  </a:solidFill>
                  <a:latin typeface="Inter SemiBold"/>
                  <a:ea typeface="Inter SemiBold"/>
                  <a:cs typeface="Inter SemiBold"/>
                  <a:sym typeface="Inter SemiBold"/>
                </a:rPr>
                <a:t>100% element coverage</a:t>
              </a:r>
              <a:r>
                <a:rPr b="0" lang="en" sz="1100">
                  <a:solidFill>
                    <a:srgbClr val="94A3B8"/>
                  </a:solidFill>
                  <a:latin typeface="Inter"/>
                  <a:ea typeface="Inter"/>
                  <a:cs typeface="Inter"/>
                  <a:sym typeface="Inter"/>
                </a:rPr>
                <a:t>.</a:t>
              </a:r>
              <a:endParaRPr b="0" sz="1100">
                <a:solidFill>
                  <a:srgbClr val="94A3B8"/>
                </a:solidFill>
                <a:latin typeface="Inter"/>
                <a:ea typeface="Inter"/>
                <a:cs typeface="Inter"/>
                <a:sym typeface="Inter"/>
              </a:endParaRPr>
            </a:p>
          </p:txBody>
        </p:sp>
      </p:grpSp>
      <p:grpSp>
        <p:nvGrpSpPr>
          <p:cNvPr id="81" name="Google Shape;81;p14"/>
          <p:cNvGrpSpPr/>
          <p:nvPr/>
        </p:nvGrpSpPr>
        <p:grpSpPr>
          <a:xfrm>
            <a:off x="571500" y="3000375"/>
            <a:ext cx="3857700" cy="1571700"/>
            <a:chOff x="0" y="0"/>
            <a:chExt cx="3857700" cy="1571700"/>
          </a:xfrm>
        </p:grpSpPr>
        <p:sp>
          <p:nvSpPr>
            <p:cNvPr id="82" name="Google Shape;82;p14"/>
            <p:cNvSpPr/>
            <p:nvPr/>
          </p:nvSpPr>
          <p:spPr>
            <a:xfrm>
              <a:off x="0" y="0"/>
              <a:ext cx="3857700" cy="1571700"/>
            </a:xfrm>
            <a:prstGeom prst="roundRect">
              <a:avLst>
                <a:gd fmla="val 4848" name="adj"/>
              </a:avLst>
            </a:prstGeom>
            <a:solidFill>
              <a:srgbClr val="1C2541"/>
            </a:solidFill>
            <a:ln cap="flat" cmpd="sng" w="9525">
              <a:solidFill>
                <a:srgbClr val="3A506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 name="Google Shape;83;p14"/>
            <p:cNvSpPr txBox="1"/>
            <p:nvPr/>
          </p:nvSpPr>
          <p:spPr>
            <a:xfrm>
              <a:off x="142875" y="142875"/>
              <a:ext cx="35718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64FFDA"/>
                  </a:solidFill>
                  <a:latin typeface="Inter"/>
                  <a:ea typeface="Inter"/>
                  <a:cs typeface="Inter"/>
                  <a:sym typeface="Inter"/>
                </a:rPr>
                <a:t>NP-HARD COMPLEXITY</a:t>
              </a:r>
              <a:endParaRPr b="1" sz="900">
                <a:solidFill>
                  <a:srgbClr val="64FFDA"/>
                </a:solidFill>
                <a:latin typeface="Inter"/>
                <a:ea typeface="Inter"/>
                <a:cs typeface="Inter"/>
                <a:sym typeface="Inter"/>
              </a:endParaRPr>
            </a:p>
            <a:p>
              <a:pPr indent="0" lvl="0" marL="0" rtl="0" algn="l">
                <a:spcBef>
                  <a:spcPts val="600"/>
                </a:spcBef>
                <a:spcAft>
                  <a:spcPts val="0"/>
                </a:spcAft>
                <a:buNone/>
              </a:pPr>
              <a:r>
                <a:rPr b="0" lang="en" sz="1100">
                  <a:solidFill>
                    <a:srgbClr val="94A3B8"/>
                  </a:solidFill>
                  <a:latin typeface="Inter"/>
                  <a:ea typeface="Inter"/>
                  <a:cs typeface="Inter"/>
                  <a:sym typeface="Inter"/>
                </a:rPr>
                <a:t>Theoretical worst-case complexity forces a critical </a:t>
              </a:r>
              <a:r>
                <a:rPr b="0" lang="en" sz="1100">
                  <a:solidFill>
                    <a:srgbClr val="FFFFFF"/>
                  </a:solidFill>
                  <a:latin typeface="Inter SemiBold"/>
                  <a:ea typeface="Inter SemiBold"/>
                  <a:cs typeface="Inter SemiBold"/>
                  <a:sym typeface="Inter SemiBold"/>
                </a:rPr>
                <a:t>trade-off</a:t>
              </a:r>
              <a:r>
                <a:rPr b="0" lang="en" sz="1100">
                  <a:solidFill>
                    <a:srgbClr val="94A3B8"/>
                  </a:solidFill>
                  <a:latin typeface="Inter"/>
                  <a:ea typeface="Inter"/>
                  <a:cs typeface="Inter"/>
                  <a:sym typeface="Inter"/>
                </a:rPr>
                <a:t> between exactness and execution time.</a:t>
              </a:r>
              <a:endParaRPr b="0" sz="1100">
                <a:solidFill>
                  <a:srgbClr val="94A3B8"/>
                </a:solidFill>
                <a:latin typeface="Inter"/>
                <a:ea typeface="Inter"/>
                <a:cs typeface="Inter"/>
                <a:sym typeface="Inter"/>
              </a:endParaRPr>
            </a:p>
          </p:txBody>
        </p:sp>
      </p:grpSp>
      <p:grpSp>
        <p:nvGrpSpPr>
          <p:cNvPr id="84" name="Google Shape;84;p14"/>
          <p:cNvGrpSpPr/>
          <p:nvPr/>
        </p:nvGrpSpPr>
        <p:grpSpPr>
          <a:xfrm>
            <a:off x="4714875" y="3000375"/>
            <a:ext cx="3857700" cy="1571700"/>
            <a:chOff x="0" y="0"/>
            <a:chExt cx="3857700" cy="1571700"/>
          </a:xfrm>
        </p:grpSpPr>
        <p:sp>
          <p:nvSpPr>
            <p:cNvPr id="85" name="Google Shape;85;p14"/>
            <p:cNvSpPr/>
            <p:nvPr/>
          </p:nvSpPr>
          <p:spPr>
            <a:xfrm>
              <a:off x="0" y="0"/>
              <a:ext cx="3857700" cy="1571700"/>
            </a:xfrm>
            <a:prstGeom prst="roundRect">
              <a:avLst>
                <a:gd fmla="val 4848" name="adj"/>
              </a:avLst>
            </a:prstGeom>
            <a:solidFill>
              <a:srgbClr val="1C2541"/>
            </a:solidFill>
            <a:ln cap="flat" cmpd="sng" w="9525">
              <a:solidFill>
                <a:srgbClr val="3A506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 name="Google Shape;86;p14"/>
            <p:cNvSpPr txBox="1"/>
            <p:nvPr/>
          </p:nvSpPr>
          <p:spPr>
            <a:xfrm>
              <a:off x="142875" y="142875"/>
              <a:ext cx="35718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38BDF8"/>
                  </a:solidFill>
                  <a:latin typeface="Inter"/>
                  <a:ea typeface="Inter"/>
                  <a:cs typeface="Inter"/>
                  <a:sym typeface="Inter"/>
                </a:rPr>
                <a:t>REAL-WORLD APPLICATIONS</a:t>
              </a:r>
              <a:endParaRPr b="1" sz="900">
                <a:solidFill>
                  <a:srgbClr val="38BDF8"/>
                </a:solidFill>
                <a:latin typeface="Inter"/>
                <a:ea typeface="Inter"/>
                <a:cs typeface="Inter"/>
                <a:sym typeface="Inter"/>
              </a:endParaRPr>
            </a:p>
            <a:p>
              <a:pPr indent="0" lvl="0" marL="0" rtl="0" algn="l">
                <a:spcBef>
                  <a:spcPts val="600"/>
                </a:spcBef>
                <a:spcAft>
                  <a:spcPts val="0"/>
                </a:spcAft>
                <a:buNone/>
              </a:pPr>
              <a:r>
                <a:rPr b="0" lang="en" sz="1100">
                  <a:solidFill>
                    <a:srgbClr val="94A3B8"/>
                  </a:solidFill>
                  <a:latin typeface="Inter"/>
                  <a:ea typeface="Inter"/>
                  <a:cs typeface="Inter"/>
                  <a:sym typeface="Inter"/>
                </a:rPr>
                <a:t>Airline crew scheduling, computational biology, cellular tower layout, and portfolio optimization.</a:t>
              </a:r>
              <a:endParaRPr b="0" sz="1100">
                <a:solidFill>
                  <a:srgbClr val="94A3B8"/>
                </a:solidFill>
                <a:latin typeface="Inter"/>
                <a:ea typeface="Inter"/>
                <a:cs typeface="Inter"/>
                <a:sym typeface="Inte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1" name="Shape 91"/>
        <p:cNvGrpSpPr/>
        <p:nvPr/>
      </p:nvGrpSpPr>
      <p:grpSpPr>
        <a:xfrm>
          <a:off x="0" y="0"/>
          <a:ext cx="0" cy="0"/>
          <a:chOff x="0" y="0"/>
          <a:chExt cx="0" cy="0"/>
        </a:xfrm>
      </p:grpSpPr>
      <p:sp>
        <p:nvSpPr>
          <p:cNvPr id="92" name="Google Shape;92;p15"/>
          <p:cNvSpPr txBox="1"/>
          <p:nvPr/>
        </p:nvSpPr>
        <p:spPr>
          <a:xfrm>
            <a:off x="571500" y="428625"/>
            <a:ext cx="8001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FFFFFF"/>
                </a:solidFill>
                <a:latin typeface="Montserrat ExtraBold"/>
                <a:ea typeface="Montserrat ExtraBold"/>
                <a:cs typeface="Montserrat ExtraBold"/>
                <a:sym typeface="Montserrat ExtraBold"/>
              </a:rPr>
              <a:t>Research Questions &amp; Hypotheses</a:t>
            </a:r>
            <a:endParaRPr b="0" sz="2400">
              <a:solidFill>
                <a:srgbClr val="FFFFFF"/>
              </a:solidFill>
              <a:latin typeface="Montserrat ExtraBold"/>
              <a:ea typeface="Montserrat ExtraBold"/>
              <a:cs typeface="Montserrat ExtraBold"/>
              <a:sym typeface="Montserrat ExtraBold"/>
            </a:endParaRPr>
          </a:p>
        </p:txBody>
      </p:sp>
      <p:grpSp>
        <p:nvGrpSpPr>
          <p:cNvPr id="93" name="Google Shape;93;p15"/>
          <p:cNvGrpSpPr/>
          <p:nvPr/>
        </p:nvGrpSpPr>
        <p:grpSpPr>
          <a:xfrm>
            <a:off x="571500" y="1238250"/>
            <a:ext cx="3857700" cy="3238500"/>
            <a:chOff x="0" y="0"/>
            <a:chExt cx="3857700" cy="3238500"/>
          </a:xfrm>
        </p:grpSpPr>
        <p:sp>
          <p:nvSpPr>
            <p:cNvPr id="94" name="Google Shape;94;p15"/>
            <p:cNvSpPr/>
            <p:nvPr/>
          </p:nvSpPr>
          <p:spPr>
            <a:xfrm>
              <a:off x="0" y="0"/>
              <a:ext cx="3857700" cy="3238500"/>
            </a:xfrm>
            <a:prstGeom prst="roundRect">
              <a:avLst>
                <a:gd fmla="val 2352" name="adj"/>
              </a:avLst>
            </a:prstGeom>
            <a:solidFill>
              <a:srgbClr val="1C2541"/>
            </a:solidFill>
            <a:ln cap="flat" cmpd="sng" w="9525">
              <a:solidFill>
                <a:srgbClr val="3A506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5" name="Google Shape;95;p15"/>
            <p:cNvGrpSpPr/>
            <p:nvPr/>
          </p:nvGrpSpPr>
          <p:grpSpPr>
            <a:xfrm>
              <a:off x="190500" y="190500"/>
              <a:ext cx="3476700" cy="2857500"/>
              <a:chOff x="0" y="0"/>
              <a:chExt cx="3476700" cy="2857500"/>
            </a:xfrm>
          </p:grpSpPr>
          <p:sp>
            <p:nvSpPr>
              <p:cNvPr id="96" name="Google Shape;96;p15"/>
              <p:cNvSpPr/>
              <p:nvPr/>
            </p:nvSpPr>
            <p:spPr>
              <a:xfrm>
                <a:off x="0" y="0"/>
                <a:ext cx="3476700" cy="2857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5"/>
              <p:cNvSpPr txBox="1"/>
              <p:nvPr/>
            </p:nvSpPr>
            <p:spPr>
              <a:xfrm>
                <a:off x="0" y="0"/>
                <a:ext cx="34767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64FFDA"/>
                    </a:solidFill>
                    <a:latin typeface="Inter"/>
                    <a:ea typeface="Inter"/>
                    <a:cs typeface="Inter"/>
                    <a:sym typeface="Inter"/>
                  </a:rPr>
                  <a:t>RQ1: SOLUTION QUALITY</a:t>
                </a:r>
                <a:endParaRPr b="1" sz="1000">
                  <a:solidFill>
                    <a:srgbClr val="64FFDA"/>
                  </a:solidFill>
                  <a:latin typeface="Inter"/>
                  <a:ea typeface="Inter"/>
                  <a:cs typeface="Inter"/>
                  <a:sym typeface="Inter"/>
                </a:endParaRPr>
              </a:p>
              <a:p>
                <a:pPr indent="0" lvl="0" marL="0" rtl="0" algn="l">
                  <a:spcBef>
                    <a:spcPts val="900"/>
                  </a:spcBef>
                  <a:spcAft>
                    <a:spcPts val="0"/>
                  </a:spcAft>
                  <a:buNone/>
                </a:pPr>
                <a:r>
                  <a:rPr b="1" lang="en" sz="1500">
                    <a:solidFill>
                      <a:srgbClr val="FFFFFF"/>
                    </a:solidFill>
                    <a:latin typeface="Montserrat"/>
                    <a:ea typeface="Montserrat"/>
                    <a:cs typeface="Montserrat"/>
                    <a:sym typeface="Montserrat"/>
                  </a:rPr>
                  <a:t>Do population/pitch-adjustment metaheuristics (GA, HS) consistently find tighter covers than Greedy on sparse benchmark matrices?</a:t>
                </a:r>
                <a:endParaRPr b="1" sz="1500">
                  <a:solidFill>
                    <a:srgbClr val="FFFFFF"/>
                  </a:solidFill>
                  <a:latin typeface="Montserrat"/>
                  <a:ea typeface="Montserrat"/>
                  <a:cs typeface="Montserrat"/>
                  <a:sym typeface="Montserrat"/>
                </a:endParaRPr>
              </a:p>
              <a:p>
                <a:pPr indent="0" lvl="0" marL="0" rtl="0" algn="l">
                  <a:spcBef>
                    <a:spcPts val="1800"/>
                  </a:spcBef>
                  <a:spcAft>
                    <a:spcPts val="0"/>
                  </a:spcAft>
                  <a:buNone/>
                </a:pPr>
                <a:r>
                  <a:rPr b="1" lang="en" sz="1000">
                    <a:solidFill>
                      <a:srgbClr val="38BDF8"/>
                    </a:solidFill>
                    <a:latin typeface="Inter"/>
                    <a:ea typeface="Inter"/>
                    <a:cs typeface="Inter"/>
                    <a:sym typeface="Inter"/>
                  </a:rPr>
                  <a:t>HYPOTHESIS</a:t>
                </a:r>
                <a:endParaRPr b="1" sz="1000">
                  <a:solidFill>
                    <a:srgbClr val="38BDF8"/>
                  </a:solidFill>
                  <a:latin typeface="Inter"/>
                  <a:ea typeface="Inter"/>
                  <a:cs typeface="Inter"/>
                  <a:sym typeface="Inter"/>
                </a:endParaRPr>
              </a:p>
              <a:p>
                <a:pPr indent="0" lvl="0" marL="0" rtl="0" algn="l">
                  <a:spcBef>
                    <a:spcPts val="600"/>
                  </a:spcBef>
                  <a:spcAft>
                    <a:spcPts val="0"/>
                  </a:spcAft>
                  <a:buNone/>
                </a:pPr>
                <a:r>
                  <a:rPr b="0" lang="en" sz="1150">
                    <a:solidFill>
                      <a:srgbClr val="94A3B8"/>
                    </a:solidFill>
                    <a:latin typeface="Inter"/>
                    <a:ea typeface="Inter"/>
                    <a:cs typeface="Inter"/>
                    <a:sym typeface="Inter"/>
                  </a:rPr>
                  <a:t>Yes. Greedy is myopic and susceptible to local traps; GA and HS utilize stochastic operators to escape local optima.</a:t>
                </a:r>
                <a:endParaRPr b="0" sz="1150">
                  <a:solidFill>
                    <a:srgbClr val="94A3B8"/>
                  </a:solidFill>
                  <a:latin typeface="Inter"/>
                  <a:ea typeface="Inter"/>
                  <a:cs typeface="Inter"/>
                  <a:sym typeface="Inter"/>
                </a:endParaRPr>
              </a:p>
            </p:txBody>
          </p:sp>
        </p:grpSp>
      </p:grpSp>
      <p:grpSp>
        <p:nvGrpSpPr>
          <p:cNvPr id="98" name="Google Shape;98;p15"/>
          <p:cNvGrpSpPr/>
          <p:nvPr/>
        </p:nvGrpSpPr>
        <p:grpSpPr>
          <a:xfrm>
            <a:off x="4714875" y="1238250"/>
            <a:ext cx="3857700" cy="3238500"/>
            <a:chOff x="0" y="0"/>
            <a:chExt cx="3857700" cy="3238500"/>
          </a:xfrm>
        </p:grpSpPr>
        <p:sp>
          <p:nvSpPr>
            <p:cNvPr id="99" name="Google Shape;99;p15"/>
            <p:cNvSpPr/>
            <p:nvPr/>
          </p:nvSpPr>
          <p:spPr>
            <a:xfrm>
              <a:off x="0" y="0"/>
              <a:ext cx="3857700" cy="3238500"/>
            </a:xfrm>
            <a:prstGeom prst="roundRect">
              <a:avLst>
                <a:gd fmla="val 2352" name="adj"/>
              </a:avLst>
            </a:prstGeom>
            <a:solidFill>
              <a:srgbClr val="1C2541"/>
            </a:solidFill>
            <a:ln cap="flat" cmpd="sng" w="9525">
              <a:solidFill>
                <a:srgbClr val="3A506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00" name="Google Shape;100;p15"/>
            <p:cNvGrpSpPr/>
            <p:nvPr/>
          </p:nvGrpSpPr>
          <p:grpSpPr>
            <a:xfrm>
              <a:off x="190500" y="190500"/>
              <a:ext cx="3476700" cy="2857500"/>
              <a:chOff x="0" y="0"/>
              <a:chExt cx="3476700" cy="2857500"/>
            </a:xfrm>
          </p:grpSpPr>
          <p:sp>
            <p:nvSpPr>
              <p:cNvPr id="101" name="Google Shape;101;p15"/>
              <p:cNvSpPr/>
              <p:nvPr/>
            </p:nvSpPr>
            <p:spPr>
              <a:xfrm>
                <a:off x="0" y="0"/>
                <a:ext cx="3476700" cy="2857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15"/>
              <p:cNvSpPr txBox="1"/>
              <p:nvPr/>
            </p:nvSpPr>
            <p:spPr>
              <a:xfrm>
                <a:off x="0" y="0"/>
                <a:ext cx="34767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38BDF8"/>
                    </a:solidFill>
                    <a:latin typeface="Inter"/>
                    <a:ea typeface="Inter"/>
                    <a:cs typeface="Inter"/>
                    <a:sym typeface="Inter"/>
                  </a:rPr>
                  <a:t>RQ2: RUNTIME SCALABILITY</a:t>
                </a:r>
                <a:endParaRPr b="1" sz="1000">
                  <a:solidFill>
                    <a:srgbClr val="38BDF8"/>
                  </a:solidFill>
                  <a:latin typeface="Inter"/>
                  <a:ea typeface="Inter"/>
                  <a:cs typeface="Inter"/>
                  <a:sym typeface="Inter"/>
                </a:endParaRPr>
              </a:p>
              <a:p>
                <a:pPr indent="0" lvl="0" marL="0" rtl="0" algn="l">
                  <a:spcBef>
                    <a:spcPts val="900"/>
                  </a:spcBef>
                  <a:spcAft>
                    <a:spcPts val="0"/>
                  </a:spcAft>
                  <a:buNone/>
                </a:pPr>
                <a:r>
                  <a:rPr b="1" lang="en" sz="1500">
                    <a:solidFill>
                      <a:srgbClr val="FFFFFF"/>
                    </a:solidFill>
                    <a:latin typeface="Montserrat"/>
                    <a:ea typeface="Montserrat"/>
                    <a:cs typeface="Montserrat"/>
                    <a:sym typeface="Montserrat"/>
                  </a:rPr>
                  <a:t>How do runtimes scale relative to exact ILP as universe size expands to N = 2048?</a:t>
                </a:r>
                <a:endParaRPr b="1" sz="1500">
                  <a:solidFill>
                    <a:srgbClr val="FFFFFF"/>
                  </a:solidFill>
                  <a:latin typeface="Montserrat"/>
                  <a:ea typeface="Montserrat"/>
                  <a:cs typeface="Montserrat"/>
                  <a:sym typeface="Montserrat"/>
                </a:endParaRPr>
              </a:p>
              <a:p>
                <a:pPr indent="0" lvl="0" marL="0" rtl="0" algn="l">
                  <a:spcBef>
                    <a:spcPts val="1800"/>
                  </a:spcBef>
                  <a:spcAft>
                    <a:spcPts val="0"/>
                  </a:spcAft>
                  <a:buNone/>
                </a:pPr>
                <a:r>
                  <a:rPr b="1" lang="en" sz="1000">
                    <a:solidFill>
                      <a:srgbClr val="64FFDA"/>
                    </a:solidFill>
                    <a:latin typeface="Inter"/>
                    <a:ea typeface="Inter"/>
                    <a:cs typeface="Inter"/>
                    <a:sym typeface="Inter"/>
                  </a:rPr>
                  <a:t>HYPOTHESIS</a:t>
                </a:r>
                <a:endParaRPr b="1" sz="1000">
                  <a:solidFill>
                    <a:srgbClr val="64FFDA"/>
                  </a:solidFill>
                  <a:latin typeface="Inter"/>
                  <a:ea typeface="Inter"/>
                  <a:cs typeface="Inter"/>
                  <a:sym typeface="Inter"/>
                </a:endParaRPr>
              </a:p>
              <a:p>
                <a:pPr indent="0" lvl="0" marL="0" rtl="0" algn="l">
                  <a:spcBef>
                    <a:spcPts val="600"/>
                  </a:spcBef>
                  <a:spcAft>
                    <a:spcPts val="0"/>
                  </a:spcAft>
                  <a:buNone/>
                </a:pPr>
                <a:r>
                  <a:rPr b="0" lang="en" sz="1150">
                    <a:solidFill>
                      <a:srgbClr val="94A3B8"/>
                    </a:solidFill>
                    <a:latin typeface="Inter"/>
                    <a:ea typeface="Inter"/>
                    <a:cs typeface="Inter"/>
                    <a:sym typeface="Inter"/>
                  </a:rPr>
                  <a:t>Exact ILP will hit an exponential worst-case runtime wall</a:t>
                </a:r>
                <a:r>
                  <a:rPr lang="en" sz="1150">
                    <a:solidFill>
                      <a:srgbClr val="94A3B8"/>
                    </a:solidFill>
                    <a:latin typeface="Inter"/>
                    <a:ea typeface="Inter"/>
                    <a:cs typeface="Inter"/>
                    <a:sym typeface="Inter"/>
                  </a:rPr>
                  <a:t> O(2</a:t>
                </a:r>
                <a:r>
                  <a:rPr baseline="30000" lang="en" sz="1150">
                    <a:solidFill>
                      <a:srgbClr val="94A3B8"/>
                    </a:solidFill>
                    <a:latin typeface="Inter"/>
                    <a:ea typeface="Inter"/>
                    <a:cs typeface="Inter"/>
                    <a:sym typeface="Inter"/>
                  </a:rPr>
                  <a:t>m </a:t>
                </a:r>
                <a:r>
                  <a:rPr lang="en" sz="1150">
                    <a:solidFill>
                      <a:srgbClr val="94A3B8"/>
                    </a:solidFill>
                    <a:latin typeface="Inter"/>
                    <a:ea typeface="Inter"/>
                    <a:cs typeface="Inter"/>
                    <a:sym typeface="Inter"/>
                  </a:rPr>
                  <a:t>),</a:t>
                </a:r>
                <a:r>
                  <a:rPr b="0" lang="en" sz="1150">
                    <a:solidFill>
                      <a:srgbClr val="94A3B8"/>
                    </a:solidFill>
                    <a:latin typeface="Inter"/>
                    <a:ea typeface="Inter"/>
                    <a:cs typeface="Inter"/>
                    <a:sym typeface="Inter"/>
                  </a:rPr>
                  <a:t> whereas metaheuristics scale predictably within bounded generation/iteration limits.</a:t>
                </a:r>
                <a:endParaRPr b="0" sz="1150">
                  <a:solidFill>
                    <a:srgbClr val="94A3B8"/>
                  </a:solidFill>
                  <a:latin typeface="Inter"/>
                  <a:ea typeface="Inter"/>
                  <a:cs typeface="Inter"/>
                  <a:sym typeface="Inter"/>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7" name="Shape 107"/>
        <p:cNvGrpSpPr/>
        <p:nvPr/>
      </p:nvGrpSpPr>
      <p:grpSpPr>
        <a:xfrm>
          <a:off x="0" y="0"/>
          <a:ext cx="0" cy="0"/>
          <a:chOff x="0" y="0"/>
          <a:chExt cx="0" cy="0"/>
        </a:xfrm>
      </p:grpSpPr>
      <p:grpSp>
        <p:nvGrpSpPr>
          <p:cNvPr id="108" name="Google Shape;108;p16"/>
          <p:cNvGrpSpPr/>
          <p:nvPr/>
        </p:nvGrpSpPr>
        <p:grpSpPr>
          <a:xfrm>
            <a:off x="571500" y="428625"/>
            <a:ext cx="8001000" cy="571500"/>
            <a:chOff x="0" y="0"/>
            <a:chExt cx="8001000" cy="571500"/>
          </a:xfrm>
        </p:grpSpPr>
        <p:sp>
          <p:nvSpPr>
            <p:cNvPr id="109" name="Google Shape;109;p16"/>
            <p:cNvSpPr/>
            <p:nvPr/>
          </p:nvSpPr>
          <p:spPr>
            <a:xfrm>
              <a:off x="0" y="0"/>
              <a:ext cx="8001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16"/>
            <p:cNvSpPr txBox="1"/>
            <p:nvPr/>
          </p:nvSpPr>
          <p:spPr>
            <a:xfrm>
              <a:off x="0" y="0"/>
              <a:ext cx="800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FFFFFF"/>
                  </a:solidFill>
                  <a:latin typeface="Montserrat ExtraBold"/>
                  <a:ea typeface="Montserrat ExtraBold"/>
                  <a:cs typeface="Montserrat ExtraBold"/>
                  <a:sym typeface="Montserrat ExtraBold"/>
                </a:rPr>
                <a:t>Theoretical &amp; Computational Complexity</a:t>
              </a:r>
              <a:endParaRPr b="0" sz="2400">
                <a:solidFill>
                  <a:srgbClr val="FFFFFF"/>
                </a:solidFill>
                <a:latin typeface="Montserrat ExtraBold"/>
                <a:ea typeface="Montserrat ExtraBold"/>
                <a:cs typeface="Montserrat ExtraBold"/>
                <a:sym typeface="Montserrat ExtraBold"/>
              </a:endParaRPr>
            </a:p>
          </p:txBody>
        </p:sp>
      </p:grpSp>
      <p:grpSp>
        <p:nvGrpSpPr>
          <p:cNvPr id="111" name="Google Shape;111;p16"/>
          <p:cNvGrpSpPr/>
          <p:nvPr/>
        </p:nvGrpSpPr>
        <p:grpSpPr>
          <a:xfrm>
            <a:off x="571500" y="1238250"/>
            <a:ext cx="3857700" cy="1571700"/>
            <a:chOff x="0" y="0"/>
            <a:chExt cx="3857700" cy="1571700"/>
          </a:xfrm>
        </p:grpSpPr>
        <p:sp>
          <p:nvSpPr>
            <p:cNvPr id="112" name="Google Shape;112;p16"/>
            <p:cNvSpPr/>
            <p:nvPr/>
          </p:nvSpPr>
          <p:spPr>
            <a:xfrm>
              <a:off x="0" y="0"/>
              <a:ext cx="3857700" cy="1571700"/>
            </a:xfrm>
            <a:prstGeom prst="roundRect">
              <a:avLst>
                <a:gd fmla="val 4848" name="adj"/>
              </a:avLst>
            </a:prstGeom>
            <a:solidFill>
              <a:srgbClr val="1C2541"/>
            </a:solidFill>
            <a:ln cap="flat" cmpd="sng" w="9525">
              <a:solidFill>
                <a:srgbClr val="3A506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6"/>
            <p:cNvSpPr txBox="1"/>
            <p:nvPr/>
          </p:nvSpPr>
          <p:spPr>
            <a:xfrm>
              <a:off x="0" y="0"/>
              <a:ext cx="3857700" cy="15717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None/>
              </a:pPr>
              <a:r>
                <a:rPr b="1" lang="en" sz="900">
                  <a:solidFill>
                    <a:srgbClr val="64FFDA"/>
                  </a:solidFill>
                  <a:latin typeface="Inter"/>
                  <a:ea typeface="Inter"/>
                  <a:cs typeface="Inter"/>
                  <a:sym typeface="Inter"/>
                </a:rPr>
                <a:t>ILP EXACT SOLVER</a:t>
              </a:r>
              <a:endParaRPr b="1" sz="900">
                <a:solidFill>
                  <a:srgbClr val="64FFDA"/>
                </a:solidFill>
                <a:latin typeface="Inter"/>
                <a:ea typeface="Inter"/>
                <a:cs typeface="Inter"/>
                <a:sym typeface="Inter"/>
              </a:endParaRPr>
            </a:p>
            <a:p>
              <a:pPr indent="0" lvl="0" marL="0" marR="95250" rtl="0" algn="l">
                <a:spcBef>
                  <a:spcPts val="300"/>
                </a:spcBef>
                <a:spcAft>
                  <a:spcPts val="0"/>
                </a:spcAft>
                <a:buNone/>
              </a:pPr>
              <a:r>
                <a:rPr b="0" lang="en" sz="1100">
                  <a:solidFill>
                    <a:srgbClr val="94A3B8"/>
                  </a:solidFill>
                  <a:latin typeface="Inter"/>
                  <a:ea typeface="Inter"/>
                  <a:cs typeface="Inter"/>
                  <a:sym typeface="Inter"/>
                </a:rPr>
                <a:t>Branch-and-Bound / Cuts</a:t>
              </a:r>
              <a:endParaRPr b="0" sz="1100">
                <a:solidFill>
                  <a:srgbClr val="94A3B8"/>
                </a:solidFill>
                <a:latin typeface="Inter"/>
                <a:ea typeface="Inter"/>
                <a:cs typeface="Inter"/>
                <a:sym typeface="Inter"/>
              </a:endParaRPr>
            </a:p>
            <a:p>
              <a:pPr indent="0" lvl="0" marL="0" rtl="0" algn="l">
                <a:spcBef>
                  <a:spcPts val="750"/>
                </a:spcBef>
                <a:spcAft>
                  <a:spcPts val="0"/>
                </a:spcAft>
                <a:buNone/>
              </a:pPr>
              <a:r>
                <a:rPr b="0" lang="en" sz="1050">
                  <a:solidFill>
                    <a:srgbClr val="FFFFFF"/>
                  </a:solidFill>
                  <a:latin typeface="Inter SemiBold"/>
                  <a:ea typeface="Inter SemiBold"/>
                  <a:cs typeface="Inter SemiBold"/>
                  <a:sym typeface="Inter SemiBold"/>
                </a:rPr>
                <a:t>Time Complexity: </a:t>
              </a:r>
              <a:r>
                <a:rPr b="1" lang="en" sz="1050">
                  <a:solidFill>
                    <a:srgbClr val="64FFDA"/>
                  </a:solidFill>
                  <a:latin typeface="Inter"/>
                  <a:ea typeface="Inter"/>
                  <a:cs typeface="Inter"/>
                  <a:sym typeface="Inter"/>
                </a:rPr>
                <a:t>O(2</a:t>
              </a:r>
              <a:r>
                <a:rPr b="1" baseline="30000" lang="en" sz="1050">
                  <a:solidFill>
                    <a:srgbClr val="64FFDA"/>
                  </a:solidFill>
                  <a:latin typeface="Inter"/>
                  <a:ea typeface="Inter"/>
                  <a:cs typeface="Inter"/>
                  <a:sym typeface="Inter"/>
                </a:rPr>
                <a:t>m</a:t>
              </a:r>
              <a:r>
                <a:rPr b="1" lang="en" sz="1050">
                  <a:solidFill>
                    <a:srgbClr val="64FFDA"/>
                  </a:solidFill>
                  <a:latin typeface="Inter"/>
                  <a:ea typeface="Inter"/>
                  <a:cs typeface="Inter"/>
                  <a:sym typeface="Inter"/>
                </a:rPr>
                <a:t>) worst-case</a:t>
              </a:r>
              <a:endParaRPr b="0" sz="1050">
                <a:solidFill>
                  <a:srgbClr val="FFFFFF"/>
                </a:solidFill>
                <a:latin typeface="Inter SemiBold"/>
                <a:ea typeface="Inter SemiBold"/>
                <a:cs typeface="Inter SemiBold"/>
                <a:sym typeface="Inter SemiBold"/>
              </a:endParaRPr>
            </a:p>
            <a:p>
              <a:pPr indent="0" lvl="0" marL="0" rtl="0" algn="l">
                <a:spcBef>
                  <a:spcPts val="450"/>
                </a:spcBef>
                <a:spcAft>
                  <a:spcPts val="0"/>
                </a:spcAft>
                <a:buNone/>
              </a:pPr>
              <a:r>
                <a:rPr b="0" lang="en" sz="1050">
                  <a:solidFill>
                    <a:srgbClr val="94A3B8"/>
                  </a:solidFill>
                  <a:latin typeface="Inter"/>
                  <a:ea typeface="Inter"/>
                  <a:cs typeface="Inter"/>
                  <a:sym typeface="Inter"/>
                </a:rPr>
                <a:t>Traversal: </a:t>
              </a:r>
              <a:r>
                <a:rPr b="0" lang="en" sz="1050">
                  <a:solidFill>
                    <a:srgbClr val="FFFFFF"/>
                  </a:solidFill>
                  <a:latin typeface="Inter Medium"/>
                  <a:ea typeface="Inter Medium"/>
                  <a:cs typeface="Inter Medium"/>
                  <a:sym typeface="Inter Medium"/>
                </a:rPr>
                <a:t>Global search via continuous Simplex relaxation</a:t>
              </a:r>
              <a:endParaRPr b="0" sz="1050">
                <a:solidFill>
                  <a:srgbClr val="94A3B8"/>
                </a:solidFill>
                <a:latin typeface="Inter"/>
                <a:ea typeface="Inter"/>
                <a:cs typeface="Inter"/>
                <a:sym typeface="Inter"/>
              </a:endParaRPr>
            </a:p>
          </p:txBody>
        </p:sp>
      </p:grpSp>
      <p:grpSp>
        <p:nvGrpSpPr>
          <p:cNvPr id="114" name="Google Shape;114;p16"/>
          <p:cNvGrpSpPr/>
          <p:nvPr/>
        </p:nvGrpSpPr>
        <p:grpSpPr>
          <a:xfrm>
            <a:off x="4714875" y="1238250"/>
            <a:ext cx="3857700" cy="1571700"/>
            <a:chOff x="0" y="0"/>
            <a:chExt cx="3857700" cy="1571700"/>
          </a:xfrm>
        </p:grpSpPr>
        <p:sp>
          <p:nvSpPr>
            <p:cNvPr id="115" name="Google Shape;115;p16"/>
            <p:cNvSpPr/>
            <p:nvPr/>
          </p:nvSpPr>
          <p:spPr>
            <a:xfrm>
              <a:off x="0" y="0"/>
              <a:ext cx="3857700" cy="1571700"/>
            </a:xfrm>
            <a:prstGeom prst="roundRect">
              <a:avLst>
                <a:gd fmla="val 4848" name="adj"/>
              </a:avLst>
            </a:prstGeom>
            <a:solidFill>
              <a:srgbClr val="1C2541"/>
            </a:solidFill>
            <a:ln cap="flat" cmpd="sng" w="9525">
              <a:solidFill>
                <a:srgbClr val="3A506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16"/>
            <p:cNvSpPr txBox="1"/>
            <p:nvPr/>
          </p:nvSpPr>
          <p:spPr>
            <a:xfrm>
              <a:off x="0" y="0"/>
              <a:ext cx="3857700" cy="15717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None/>
              </a:pPr>
              <a:r>
                <a:rPr b="1" lang="en" sz="900">
                  <a:solidFill>
                    <a:srgbClr val="38BDF8"/>
                  </a:solidFill>
                  <a:latin typeface="Inter"/>
                  <a:ea typeface="Inter"/>
                  <a:cs typeface="Inter"/>
                  <a:sym typeface="Inter"/>
                </a:rPr>
                <a:t>GREEDY APPROXIMATION HEURISTIC</a:t>
              </a:r>
              <a:endParaRPr b="1" sz="900">
                <a:solidFill>
                  <a:srgbClr val="38BDF8"/>
                </a:solidFill>
                <a:latin typeface="Inter"/>
                <a:ea typeface="Inter"/>
                <a:cs typeface="Inter"/>
                <a:sym typeface="Inter"/>
              </a:endParaRPr>
            </a:p>
            <a:p>
              <a:pPr indent="0" lvl="0" marL="0" marR="95250" rtl="0" algn="l">
                <a:spcBef>
                  <a:spcPts val="300"/>
                </a:spcBef>
                <a:spcAft>
                  <a:spcPts val="0"/>
                </a:spcAft>
                <a:buNone/>
              </a:pPr>
              <a:r>
                <a:rPr b="0" lang="en" sz="1100">
                  <a:solidFill>
                    <a:srgbClr val="94A3B8"/>
                  </a:solidFill>
                  <a:latin typeface="Inter"/>
                  <a:ea typeface="Inter"/>
                  <a:cs typeface="Inter"/>
                  <a:sym typeface="Inter"/>
                </a:rPr>
                <a:t>Myopic Selection</a:t>
              </a:r>
              <a:endParaRPr b="0" sz="1100">
                <a:solidFill>
                  <a:srgbClr val="94A3B8"/>
                </a:solidFill>
                <a:latin typeface="Inter"/>
                <a:ea typeface="Inter"/>
                <a:cs typeface="Inter"/>
                <a:sym typeface="Inter"/>
              </a:endParaRPr>
            </a:p>
            <a:p>
              <a:pPr indent="0" lvl="0" marL="0" rtl="0" algn="l">
                <a:spcBef>
                  <a:spcPts val="750"/>
                </a:spcBef>
                <a:spcAft>
                  <a:spcPts val="0"/>
                </a:spcAft>
                <a:buNone/>
              </a:pPr>
              <a:r>
                <a:rPr b="0" lang="en" sz="1050">
                  <a:solidFill>
                    <a:srgbClr val="FFFFFF"/>
                  </a:solidFill>
                  <a:latin typeface="Inter SemiBold"/>
                  <a:ea typeface="Inter SemiBold"/>
                  <a:cs typeface="Inter SemiBold"/>
                  <a:sym typeface="Inter SemiBold"/>
                </a:rPr>
                <a:t>Time Complexity: </a:t>
              </a:r>
              <a:r>
                <a:rPr b="1" lang="en" sz="1050">
                  <a:solidFill>
                    <a:srgbClr val="38BDF8"/>
                  </a:solidFill>
                  <a:latin typeface="Inter"/>
                  <a:ea typeface="Inter"/>
                  <a:cs typeface="Inter"/>
                  <a:sym typeface="Inter"/>
                </a:rPr>
                <a:t>O(m · n²)</a:t>
              </a:r>
              <a:endParaRPr b="0" sz="1050">
                <a:solidFill>
                  <a:srgbClr val="FFFFFF"/>
                </a:solidFill>
                <a:latin typeface="Inter SemiBold"/>
                <a:ea typeface="Inter SemiBold"/>
                <a:cs typeface="Inter SemiBold"/>
                <a:sym typeface="Inter SemiBold"/>
              </a:endParaRPr>
            </a:p>
            <a:p>
              <a:pPr indent="0" lvl="0" marL="0" rtl="0" algn="l">
                <a:spcBef>
                  <a:spcPts val="450"/>
                </a:spcBef>
                <a:spcAft>
                  <a:spcPts val="0"/>
                </a:spcAft>
                <a:buNone/>
              </a:pPr>
              <a:r>
                <a:rPr b="0" lang="en" sz="1050">
                  <a:solidFill>
                    <a:srgbClr val="94A3B8"/>
                  </a:solidFill>
                  <a:latin typeface="Inter"/>
                  <a:ea typeface="Inter"/>
                  <a:cs typeface="Inter"/>
                  <a:sym typeface="Inter"/>
                </a:rPr>
                <a:t>Traversal: </a:t>
              </a:r>
              <a:r>
                <a:rPr b="0" lang="en" sz="1050">
                  <a:solidFill>
                    <a:srgbClr val="FFFFFF"/>
                  </a:solidFill>
                  <a:latin typeface="Inter Medium"/>
                  <a:ea typeface="Inter Medium"/>
                  <a:cs typeface="Inter Medium"/>
                  <a:sym typeface="Inter Medium"/>
                </a:rPr>
                <a:t>Deterministic local myopic reduction</a:t>
              </a:r>
              <a:endParaRPr b="0" sz="1050">
                <a:solidFill>
                  <a:srgbClr val="94A3B8"/>
                </a:solidFill>
                <a:latin typeface="Inter"/>
                <a:ea typeface="Inter"/>
                <a:cs typeface="Inter"/>
                <a:sym typeface="Inter"/>
              </a:endParaRPr>
            </a:p>
          </p:txBody>
        </p:sp>
      </p:grpSp>
      <p:grpSp>
        <p:nvGrpSpPr>
          <p:cNvPr id="117" name="Google Shape;117;p16"/>
          <p:cNvGrpSpPr/>
          <p:nvPr/>
        </p:nvGrpSpPr>
        <p:grpSpPr>
          <a:xfrm>
            <a:off x="571500" y="3000375"/>
            <a:ext cx="3857700" cy="1571700"/>
            <a:chOff x="0" y="0"/>
            <a:chExt cx="3857700" cy="1571700"/>
          </a:xfrm>
        </p:grpSpPr>
        <p:sp>
          <p:nvSpPr>
            <p:cNvPr id="118" name="Google Shape;118;p16"/>
            <p:cNvSpPr/>
            <p:nvPr/>
          </p:nvSpPr>
          <p:spPr>
            <a:xfrm>
              <a:off x="0" y="0"/>
              <a:ext cx="3857700" cy="1571700"/>
            </a:xfrm>
            <a:prstGeom prst="roundRect">
              <a:avLst>
                <a:gd fmla="val 4848" name="adj"/>
              </a:avLst>
            </a:prstGeom>
            <a:solidFill>
              <a:srgbClr val="1C2541"/>
            </a:solidFill>
            <a:ln cap="flat" cmpd="sng" w="9525">
              <a:solidFill>
                <a:srgbClr val="3A506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6"/>
            <p:cNvSpPr txBox="1"/>
            <p:nvPr/>
          </p:nvSpPr>
          <p:spPr>
            <a:xfrm>
              <a:off x="0" y="0"/>
              <a:ext cx="3857700" cy="15717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None/>
              </a:pPr>
              <a:r>
                <a:rPr b="1" lang="en" sz="900">
                  <a:solidFill>
                    <a:srgbClr val="64FFDA"/>
                  </a:solidFill>
                  <a:latin typeface="Inter"/>
                  <a:ea typeface="Inter"/>
                  <a:cs typeface="Inter"/>
                  <a:sym typeface="Inter"/>
                </a:rPr>
                <a:t>GENETIC ALGORITHM (GA)</a:t>
              </a:r>
              <a:endParaRPr b="1" sz="900">
                <a:solidFill>
                  <a:srgbClr val="64FFDA"/>
                </a:solidFill>
                <a:latin typeface="Inter"/>
                <a:ea typeface="Inter"/>
                <a:cs typeface="Inter"/>
                <a:sym typeface="Inter"/>
              </a:endParaRPr>
            </a:p>
            <a:p>
              <a:pPr indent="0" lvl="0" marL="0" marR="95250" rtl="0" algn="l">
                <a:spcBef>
                  <a:spcPts val="300"/>
                </a:spcBef>
                <a:spcAft>
                  <a:spcPts val="0"/>
                </a:spcAft>
                <a:buNone/>
              </a:pPr>
              <a:r>
                <a:rPr b="0" lang="en" sz="1100">
                  <a:solidFill>
                    <a:srgbClr val="94A3B8"/>
                  </a:solidFill>
                  <a:latin typeface="Inter"/>
                  <a:ea typeface="Inter"/>
                  <a:cs typeface="Inter"/>
                  <a:sym typeface="Inter"/>
                </a:rPr>
                <a:t>Population-Based Metaheuristic</a:t>
              </a:r>
              <a:endParaRPr b="0" sz="1100">
                <a:solidFill>
                  <a:srgbClr val="94A3B8"/>
                </a:solidFill>
                <a:latin typeface="Inter"/>
                <a:ea typeface="Inter"/>
                <a:cs typeface="Inter"/>
                <a:sym typeface="Inter"/>
              </a:endParaRPr>
            </a:p>
            <a:p>
              <a:pPr indent="0" lvl="0" marL="0" rtl="0" algn="l">
                <a:spcBef>
                  <a:spcPts val="750"/>
                </a:spcBef>
                <a:spcAft>
                  <a:spcPts val="0"/>
                </a:spcAft>
                <a:buNone/>
              </a:pPr>
              <a:r>
                <a:rPr b="0" lang="en" sz="1050">
                  <a:solidFill>
                    <a:srgbClr val="FFFFFF"/>
                  </a:solidFill>
                  <a:latin typeface="Inter SemiBold"/>
                  <a:ea typeface="Inter SemiBold"/>
                  <a:cs typeface="Inter SemiBold"/>
                  <a:sym typeface="Inter SemiBold"/>
                </a:rPr>
                <a:t>Time Complexity: </a:t>
              </a:r>
              <a:r>
                <a:rPr b="1" lang="en" sz="1050">
                  <a:solidFill>
                    <a:srgbClr val="64FFDA"/>
                  </a:solidFill>
                  <a:latin typeface="Inter"/>
                  <a:ea typeface="Inter"/>
                  <a:cs typeface="Inter"/>
                  <a:sym typeface="Inter"/>
                </a:rPr>
                <a:t>O(G · P · m · n)</a:t>
              </a:r>
              <a:endParaRPr b="0" sz="1050">
                <a:solidFill>
                  <a:srgbClr val="FFFFFF"/>
                </a:solidFill>
                <a:latin typeface="Inter SemiBold"/>
                <a:ea typeface="Inter SemiBold"/>
                <a:cs typeface="Inter SemiBold"/>
                <a:sym typeface="Inter SemiBold"/>
              </a:endParaRPr>
            </a:p>
            <a:p>
              <a:pPr indent="0" lvl="0" marL="0" rtl="0" algn="l">
                <a:spcBef>
                  <a:spcPts val="450"/>
                </a:spcBef>
                <a:spcAft>
                  <a:spcPts val="0"/>
                </a:spcAft>
                <a:buNone/>
              </a:pPr>
              <a:r>
                <a:rPr b="0" lang="en" sz="1050">
                  <a:solidFill>
                    <a:srgbClr val="94A3B8"/>
                  </a:solidFill>
                  <a:latin typeface="Inter"/>
                  <a:ea typeface="Inter"/>
                  <a:cs typeface="Inter"/>
                  <a:sym typeface="Inter"/>
                </a:rPr>
                <a:t>Traversal: </a:t>
              </a:r>
              <a:r>
                <a:rPr b="0" lang="en" sz="1050">
                  <a:solidFill>
                    <a:srgbClr val="FFFFFF"/>
                  </a:solidFill>
                  <a:latin typeface="Inter Medium"/>
                  <a:ea typeface="Inter Medium"/>
                  <a:cs typeface="Inter Medium"/>
                  <a:sym typeface="Inter Medium"/>
                </a:rPr>
                <a:t>Population evolutionary crossover, mutation &amp; repair</a:t>
              </a:r>
              <a:endParaRPr b="0" sz="1050">
                <a:solidFill>
                  <a:srgbClr val="94A3B8"/>
                </a:solidFill>
                <a:latin typeface="Inter"/>
                <a:ea typeface="Inter"/>
                <a:cs typeface="Inter"/>
                <a:sym typeface="Inter"/>
              </a:endParaRPr>
            </a:p>
          </p:txBody>
        </p:sp>
      </p:grpSp>
      <p:grpSp>
        <p:nvGrpSpPr>
          <p:cNvPr id="120" name="Google Shape;120;p16"/>
          <p:cNvGrpSpPr/>
          <p:nvPr/>
        </p:nvGrpSpPr>
        <p:grpSpPr>
          <a:xfrm>
            <a:off x="4714875" y="3000375"/>
            <a:ext cx="3857700" cy="1571700"/>
            <a:chOff x="0" y="0"/>
            <a:chExt cx="3857700" cy="1571700"/>
          </a:xfrm>
        </p:grpSpPr>
        <p:sp>
          <p:nvSpPr>
            <p:cNvPr id="121" name="Google Shape;121;p16"/>
            <p:cNvSpPr/>
            <p:nvPr/>
          </p:nvSpPr>
          <p:spPr>
            <a:xfrm>
              <a:off x="0" y="0"/>
              <a:ext cx="3857700" cy="1571700"/>
            </a:xfrm>
            <a:prstGeom prst="roundRect">
              <a:avLst>
                <a:gd fmla="val 4848" name="adj"/>
              </a:avLst>
            </a:prstGeom>
            <a:solidFill>
              <a:srgbClr val="1C2541"/>
            </a:solidFill>
            <a:ln cap="flat" cmpd="sng" w="9525">
              <a:solidFill>
                <a:srgbClr val="3A506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6"/>
            <p:cNvSpPr txBox="1"/>
            <p:nvPr/>
          </p:nvSpPr>
          <p:spPr>
            <a:xfrm>
              <a:off x="0" y="0"/>
              <a:ext cx="3857700" cy="15717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None/>
              </a:pPr>
              <a:r>
                <a:rPr b="1" lang="en" sz="900">
                  <a:solidFill>
                    <a:srgbClr val="38BDF8"/>
                  </a:solidFill>
                  <a:latin typeface="Inter"/>
                  <a:ea typeface="Inter"/>
                  <a:cs typeface="Inter"/>
                  <a:sym typeface="Inter"/>
                </a:rPr>
                <a:t>HARMONY SEARCH (HS)</a:t>
              </a:r>
              <a:endParaRPr b="1" sz="900">
                <a:solidFill>
                  <a:srgbClr val="38BDF8"/>
                </a:solidFill>
                <a:latin typeface="Inter"/>
                <a:ea typeface="Inter"/>
                <a:cs typeface="Inter"/>
                <a:sym typeface="Inter"/>
              </a:endParaRPr>
            </a:p>
            <a:p>
              <a:pPr indent="0" lvl="0" marL="0" marR="95250" rtl="0" algn="l">
                <a:spcBef>
                  <a:spcPts val="300"/>
                </a:spcBef>
                <a:spcAft>
                  <a:spcPts val="0"/>
                </a:spcAft>
                <a:buNone/>
              </a:pPr>
              <a:r>
                <a:rPr b="0" lang="en" sz="1100">
                  <a:solidFill>
                    <a:srgbClr val="94A3B8"/>
                  </a:solidFill>
                  <a:latin typeface="Inter"/>
                  <a:ea typeface="Inter"/>
                  <a:cs typeface="Inter"/>
                  <a:sym typeface="Inter"/>
                </a:rPr>
                <a:t>Music-Inspired Metaheuristic</a:t>
              </a:r>
              <a:endParaRPr b="0" sz="1100">
                <a:solidFill>
                  <a:srgbClr val="94A3B8"/>
                </a:solidFill>
                <a:latin typeface="Inter"/>
                <a:ea typeface="Inter"/>
                <a:cs typeface="Inter"/>
                <a:sym typeface="Inter"/>
              </a:endParaRPr>
            </a:p>
            <a:p>
              <a:pPr indent="0" lvl="0" marL="0" rtl="0" algn="l">
                <a:spcBef>
                  <a:spcPts val="750"/>
                </a:spcBef>
                <a:spcAft>
                  <a:spcPts val="0"/>
                </a:spcAft>
                <a:buNone/>
              </a:pPr>
              <a:r>
                <a:rPr b="0" lang="en" sz="1050">
                  <a:solidFill>
                    <a:srgbClr val="FFFFFF"/>
                  </a:solidFill>
                  <a:latin typeface="Inter SemiBold"/>
                  <a:ea typeface="Inter SemiBold"/>
                  <a:cs typeface="Inter SemiBold"/>
                  <a:sym typeface="Inter SemiBold"/>
                </a:rPr>
                <a:t>Time Complexity: </a:t>
              </a:r>
              <a:r>
                <a:rPr b="1" lang="en" sz="1050">
                  <a:solidFill>
                    <a:srgbClr val="38BDF8"/>
                  </a:solidFill>
                  <a:latin typeface="Inter"/>
                  <a:ea typeface="Inter"/>
                  <a:cs typeface="Inter"/>
                  <a:sym typeface="Inter"/>
                </a:rPr>
                <a:t>O(K · HMS · m)</a:t>
              </a:r>
              <a:endParaRPr b="0" sz="1050">
                <a:solidFill>
                  <a:srgbClr val="FFFFFF"/>
                </a:solidFill>
                <a:latin typeface="Inter SemiBold"/>
                <a:ea typeface="Inter SemiBold"/>
                <a:cs typeface="Inter SemiBold"/>
                <a:sym typeface="Inter SemiBold"/>
              </a:endParaRPr>
            </a:p>
            <a:p>
              <a:pPr indent="0" lvl="0" marL="0" rtl="0" algn="l">
                <a:spcBef>
                  <a:spcPts val="450"/>
                </a:spcBef>
                <a:spcAft>
                  <a:spcPts val="0"/>
                </a:spcAft>
                <a:buNone/>
              </a:pPr>
              <a:r>
                <a:rPr b="0" lang="en" sz="1050">
                  <a:solidFill>
                    <a:srgbClr val="94A3B8"/>
                  </a:solidFill>
                  <a:latin typeface="Inter"/>
                  <a:ea typeface="Inter"/>
                  <a:cs typeface="Inter"/>
                  <a:sym typeface="Inter"/>
                </a:rPr>
                <a:t>Traversal: </a:t>
              </a:r>
              <a:r>
                <a:rPr b="0" lang="en" sz="1050">
                  <a:solidFill>
                    <a:srgbClr val="FFFFFF"/>
                  </a:solidFill>
                  <a:latin typeface="Inter Medium"/>
                  <a:ea typeface="Inter Medium"/>
                  <a:cs typeface="Inter Medium"/>
                  <a:sym typeface="Inter Medium"/>
                </a:rPr>
                <a:t>Pitch-adjustment memory consideration search</a:t>
              </a:r>
              <a:endParaRPr b="0" sz="1050">
                <a:solidFill>
                  <a:srgbClr val="94A3B8"/>
                </a:solidFill>
                <a:latin typeface="Inter"/>
                <a:ea typeface="Inter"/>
                <a:cs typeface="Inter"/>
                <a:sym typeface="Inte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17"/>
          <p:cNvSpPr txBox="1"/>
          <p:nvPr/>
        </p:nvSpPr>
        <p:spPr>
          <a:xfrm>
            <a:off x="571500" y="428625"/>
            <a:ext cx="800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FFFFFF"/>
                </a:solidFill>
                <a:latin typeface="Montserrat ExtraBold"/>
                <a:ea typeface="Montserrat ExtraBold"/>
                <a:cs typeface="Montserrat ExtraBold"/>
                <a:sym typeface="Montserrat ExtraBold"/>
              </a:rPr>
              <a:t>Empirical Results: Beasley OR-Library</a:t>
            </a:r>
            <a:endParaRPr b="0" sz="2400">
              <a:solidFill>
                <a:srgbClr val="FFFFFF"/>
              </a:solidFill>
              <a:latin typeface="Montserrat ExtraBold"/>
              <a:ea typeface="Montserrat ExtraBold"/>
              <a:cs typeface="Montserrat ExtraBold"/>
              <a:sym typeface="Montserrat ExtraBold"/>
            </a:endParaRPr>
          </a:p>
        </p:txBody>
      </p:sp>
      <p:sp>
        <p:nvSpPr>
          <p:cNvPr id="129" name="Google Shape;129;p17"/>
          <p:cNvSpPr txBox="1"/>
          <p:nvPr/>
        </p:nvSpPr>
        <p:spPr>
          <a:xfrm>
            <a:off x="571500" y="1000125"/>
            <a:ext cx="800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38BDF8"/>
                </a:solidFill>
                <a:latin typeface="Inter SemiBold"/>
                <a:ea typeface="Inter SemiBold"/>
                <a:cs typeface="Inter SemiBold"/>
                <a:sym typeface="Inter SemiBold"/>
              </a:rPr>
              <a:t>Benchmark: scp41.txt | Universe (n) = 200 | Candidate Subsets (m) = 1,000</a:t>
            </a:r>
            <a:endParaRPr b="0" sz="1100">
              <a:solidFill>
                <a:srgbClr val="38BDF8"/>
              </a:solidFill>
              <a:latin typeface="Inter SemiBold"/>
              <a:ea typeface="Inter SemiBold"/>
              <a:cs typeface="Inter SemiBold"/>
              <a:sym typeface="Inter SemiBold"/>
            </a:endParaRPr>
          </a:p>
        </p:txBody>
      </p:sp>
      <p:grpSp>
        <p:nvGrpSpPr>
          <p:cNvPr id="130" name="Google Shape;130;p17"/>
          <p:cNvGrpSpPr/>
          <p:nvPr/>
        </p:nvGrpSpPr>
        <p:grpSpPr>
          <a:xfrm>
            <a:off x="571500" y="1524000"/>
            <a:ext cx="1857300" cy="2238300"/>
            <a:chOff x="0" y="0"/>
            <a:chExt cx="1857300" cy="2238300"/>
          </a:xfrm>
        </p:grpSpPr>
        <p:sp>
          <p:nvSpPr>
            <p:cNvPr id="131" name="Google Shape;131;p17"/>
            <p:cNvSpPr/>
            <p:nvPr/>
          </p:nvSpPr>
          <p:spPr>
            <a:xfrm>
              <a:off x="0" y="0"/>
              <a:ext cx="1857300" cy="2238300"/>
            </a:xfrm>
            <a:prstGeom prst="roundRect">
              <a:avLst>
                <a:gd fmla="val 4102" name="adj"/>
              </a:avLst>
            </a:prstGeom>
            <a:solidFill>
              <a:srgbClr val="1C2541"/>
            </a:solidFill>
            <a:ln cap="flat" cmpd="sng" w="14300">
              <a:solidFill>
                <a:srgbClr val="3A506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17"/>
            <p:cNvSpPr txBox="1"/>
            <p:nvPr/>
          </p:nvSpPr>
          <p:spPr>
            <a:xfrm>
              <a:off x="0" y="0"/>
              <a:ext cx="1857300" cy="22383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000">
                  <a:solidFill>
                    <a:srgbClr val="38BDF8"/>
                  </a:solidFill>
                  <a:latin typeface="Inter"/>
                  <a:ea typeface="Inter"/>
                  <a:cs typeface="Inter"/>
                  <a:sym typeface="Inter"/>
                </a:rPr>
                <a:t>ILP EXACT SOLVER</a:t>
              </a:r>
              <a:endParaRPr b="1" sz="1000">
                <a:solidFill>
                  <a:srgbClr val="38BDF8"/>
                </a:solidFill>
                <a:latin typeface="Inter"/>
                <a:ea typeface="Inter"/>
                <a:cs typeface="Inter"/>
                <a:sym typeface="Inter"/>
              </a:endParaRPr>
            </a:p>
            <a:p>
              <a:pPr indent="0" lvl="0" marL="0" rtl="0" algn="l">
                <a:spcBef>
                  <a:spcPts val="0"/>
                </a:spcBef>
                <a:spcAft>
                  <a:spcPts val="0"/>
                </a:spcAft>
                <a:buNone/>
              </a:pPr>
              <a:r>
                <a:rPr b="0" lang="en" sz="2400">
                  <a:solidFill>
                    <a:srgbClr val="FFFFFF"/>
                  </a:solidFill>
                  <a:latin typeface="Inter ExtraBold"/>
                  <a:ea typeface="Inter ExtraBold"/>
                  <a:cs typeface="Inter ExtraBold"/>
                  <a:sym typeface="Inter ExtraBold"/>
                </a:rPr>
                <a:t>0.0391s</a:t>
              </a:r>
              <a:endParaRPr b="0" sz="2400">
                <a:solidFill>
                  <a:srgbClr val="FFFFFF"/>
                </a:solidFill>
                <a:latin typeface="Inter ExtraBold"/>
                <a:ea typeface="Inter ExtraBold"/>
                <a:cs typeface="Inter ExtraBold"/>
                <a:sym typeface="Inter ExtraBold"/>
              </a:endParaRPr>
            </a:p>
            <a:p>
              <a:pPr indent="0" lvl="0" marL="0" rtl="0" algn="l">
                <a:spcBef>
                  <a:spcPts val="375"/>
                </a:spcBef>
                <a:spcAft>
                  <a:spcPts val="0"/>
                </a:spcAft>
                <a:buNone/>
              </a:pPr>
              <a:r>
                <a:rPr lang="en" sz="1000">
                  <a:solidFill>
                    <a:srgbClr val="94A3B8"/>
                  </a:solidFill>
                  <a:latin typeface="Inter"/>
                  <a:ea typeface="Inter"/>
                  <a:cs typeface="Inter"/>
                  <a:sym typeface="Inter"/>
                </a:rPr>
                <a:t>Execution Runtime</a:t>
              </a:r>
              <a:endParaRPr sz="1000">
                <a:solidFill>
                  <a:srgbClr val="94A3B8"/>
                </a:solidFill>
                <a:latin typeface="Inter"/>
                <a:ea typeface="Inter"/>
                <a:cs typeface="Inter"/>
                <a:sym typeface="Inter"/>
              </a:endParaRPr>
            </a:p>
            <a:p>
              <a:pPr indent="0" lvl="0" marL="0" rtl="0" algn="l">
                <a:spcBef>
                  <a:spcPts val="0"/>
                </a:spcBef>
                <a:spcAft>
                  <a:spcPts val="0"/>
                </a:spcAft>
                <a:buNone/>
              </a:pPr>
              <a:r>
                <a:rPr b="0" lang="en" sz="1050">
                  <a:solidFill>
                    <a:srgbClr val="FFFFFF"/>
                  </a:solidFill>
                  <a:latin typeface="Inter SemiBold"/>
                  <a:ea typeface="Inter SemiBold"/>
                  <a:cs typeface="Inter SemiBold"/>
                  <a:sym typeface="Inter SemiBold"/>
                </a:rPr>
                <a:t>5 Subsets</a:t>
              </a:r>
              <a:endParaRPr b="0" sz="1050">
                <a:solidFill>
                  <a:srgbClr val="FFFFFF"/>
                </a:solidFill>
                <a:latin typeface="Inter SemiBold"/>
                <a:ea typeface="Inter SemiBold"/>
                <a:cs typeface="Inter SemiBold"/>
                <a:sym typeface="Inter SemiBold"/>
              </a:endParaRPr>
            </a:p>
            <a:p>
              <a:pPr indent="0" lvl="0" marL="0" rtl="0" algn="l">
                <a:spcBef>
                  <a:spcPts val="150"/>
                </a:spcBef>
                <a:spcAft>
                  <a:spcPts val="0"/>
                </a:spcAft>
                <a:buNone/>
              </a:pPr>
              <a:r>
                <a:rPr b="1" lang="en" sz="950">
                  <a:solidFill>
                    <a:srgbClr val="64FFDA"/>
                  </a:solidFill>
                  <a:latin typeface="Inter"/>
                  <a:ea typeface="Inter"/>
                  <a:cs typeface="Inter"/>
                  <a:sym typeface="Inter"/>
                </a:rPr>
                <a:t>0.00% Gap (Optimum)</a:t>
              </a:r>
              <a:endParaRPr b="1" sz="950">
                <a:solidFill>
                  <a:srgbClr val="64FFDA"/>
                </a:solidFill>
                <a:latin typeface="Inter"/>
                <a:ea typeface="Inter"/>
                <a:cs typeface="Inter"/>
                <a:sym typeface="Inter"/>
              </a:endParaRPr>
            </a:p>
          </p:txBody>
        </p:sp>
      </p:grpSp>
      <p:grpSp>
        <p:nvGrpSpPr>
          <p:cNvPr id="133" name="Google Shape;133;p17"/>
          <p:cNvGrpSpPr/>
          <p:nvPr/>
        </p:nvGrpSpPr>
        <p:grpSpPr>
          <a:xfrm>
            <a:off x="2619375" y="1524000"/>
            <a:ext cx="1857300" cy="2238300"/>
            <a:chOff x="0" y="0"/>
            <a:chExt cx="1857300" cy="2238300"/>
          </a:xfrm>
        </p:grpSpPr>
        <p:sp>
          <p:nvSpPr>
            <p:cNvPr id="134" name="Google Shape;134;p17"/>
            <p:cNvSpPr/>
            <p:nvPr/>
          </p:nvSpPr>
          <p:spPr>
            <a:xfrm>
              <a:off x="0" y="0"/>
              <a:ext cx="1857300" cy="2238300"/>
            </a:xfrm>
            <a:prstGeom prst="roundRect">
              <a:avLst>
                <a:gd fmla="val 4102" name="adj"/>
              </a:avLst>
            </a:prstGeom>
            <a:solidFill>
              <a:srgbClr val="1C2541"/>
            </a:solidFill>
            <a:ln cap="flat" cmpd="sng" w="14300">
              <a:solidFill>
                <a:srgbClr val="64FFD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7"/>
            <p:cNvSpPr txBox="1"/>
            <p:nvPr/>
          </p:nvSpPr>
          <p:spPr>
            <a:xfrm>
              <a:off x="0" y="0"/>
              <a:ext cx="1857300" cy="22383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000">
                  <a:solidFill>
                    <a:srgbClr val="64FFDA"/>
                  </a:solidFill>
                  <a:latin typeface="Inter"/>
                  <a:ea typeface="Inter"/>
                  <a:cs typeface="Inter"/>
                  <a:sym typeface="Inter"/>
                </a:rPr>
                <a:t>HARMONY SEARCH</a:t>
              </a:r>
              <a:endParaRPr b="1" sz="1000">
                <a:solidFill>
                  <a:srgbClr val="64FFDA"/>
                </a:solidFill>
                <a:latin typeface="Inter"/>
                <a:ea typeface="Inter"/>
                <a:cs typeface="Inter"/>
                <a:sym typeface="Inter"/>
              </a:endParaRPr>
            </a:p>
            <a:p>
              <a:pPr indent="0" lvl="0" marL="0" rtl="0" algn="l">
                <a:spcBef>
                  <a:spcPts val="0"/>
                </a:spcBef>
                <a:spcAft>
                  <a:spcPts val="0"/>
                </a:spcAft>
                <a:buNone/>
              </a:pPr>
              <a:r>
                <a:rPr b="0" lang="en" sz="2400">
                  <a:solidFill>
                    <a:srgbClr val="64FFDA"/>
                  </a:solidFill>
                  <a:latin typeface="Inter ExtraBold"/>
                  <a:ea typeface="Inter ExtraBold"/>
                  <a:cs typeface="Inter ExtraBold"/>
                  <a:sym typeface="Inter ExtraBold"/>
                </a:rPr>
                <a:t>0.0116s</a:t>
              </a:r>
              <a:endParaRPr b="0" sz="2400">
                <a:solidFill>
                  <a:srgbClr val="64FFDA"/>
                </a:solidFill>
                <a:latin typeface="Inter ExtraBold"/>
                <a:ea typeface="Inter ExtraBold"/>
                <a:cs typeface="Inter ExtraBold"/>
                <a:sym typeface="Inter ExtraBold"/>
              </a:endParaRPr>
            </a:p>
            <a:p>
              <a:pPr indent="0" lvl="0" marL="0" rtl="0" algn="l">
                <a:spcBef>
                  <a:spcPts val="375"/>
                </a:spcBef>
                <a:spcAft>
                  <a:spcPts val="0"/>
                </a:spcAft>
                <a:buNone/>
              </a:pPr>
              <a:r>
                <a:rPr lang="en" sz="1000">
                  <a:solidFill>
                    <a:srgbClr val="94A3B8"/>
                  </a:solidFill>
                  <a:latin typeface="Inter"/>
                  <a:ea typeface="Inter"/>
                  <a:cs typeface="Inter"/>
                  <a:sym typeface="Inter"/>
                </a:rPr>
                <a:t>Execution Runtime</a:t>
              </a:r>
              <a:endParaRPr sz="1000">
                <a:solidFill>
                  <a:srgbClr val="94A3B8"/>
                </a:solidFill>
                <a:latin typeface="Inter"/>
                <a:ea typeface="Inter"/>
                <a:cs typeface="Inter"/>
                <a:sym typeface="Inter"/>
              </a:endParaRPr>
            </a:p>
            <a:p>
              <a:pPr indent="0" lvl="0" marL="0" rtl="0" algn="l">
                <a:spcBef>
                  <a:spcPts val="0"/>
                </a:spcBef>
                <a:spcAft>
                  <a:spcPts val="0"/>
                </a:spcAft>
                <a:buNone/>
              </a:pPr>
              <a:r>
                <a:rPr b="0" lang="en" sz="1050">
                  <a:solidFill>
                    <a:srgbClr val="FFFFFF"/>
                  </a:solidFill>
                  <a:latin typeface="Inter SemiBold"/>
                  <a:ea typeface="Inter SemiBold"/>
                  <a:cs typeface="Inter SemiBold"/>
                  <a:sym typeface="Inter SemiBold"/>
                </a:rPr>
                <a:t>5 Subsets</a:t>
              </a:r>
              <a:endParaRPr b="0" sz="1050">
                <a:solidFill>
                  <a:srgbClr val="FFFFFF"/>
                </a:solidFill>
                <a:latin typeface="Inter SemiBold"/>
                <a:ea typeface="Inter SemiBold"/>
                <a:cs typeface="Inter SemiBold"/>
                <a:sym typeface="Inter SemiBold"/>
              </a:endParaRPr>
            </a:p>
            <a:p>
              <a:pPr indent="0" lvl="0" marL="0" rtl="0" algn="l">
                <a:spcBef>
                  <a:spcPts val="150"/>
                </a:spcBef>
                <a:spcAft>
                  <a:spcPts val="0"/>
                </a:spcAft>
                <a:buNone/>
              </a:pPr>
              <a:r>
                <a:rPr b="1" lang="en" sz="950">
                  <a:solidFill>
                    <a:srgbClr val="64FFDA"/>
                  </a:solidFill>
                  <a:latin typeface="Inter"/>
                  <a:ea typeface="Inter"/>
                  <a:cs typeface="Inter"/>
                  <a:sym typeface="Inter"/>
                </a:rPr>
                <a:t>0.00% Gap (Optimum)</a:t>
              </a:r>
              <a:endParaRPr b="1" sz="950">
                <a:solidFill>
                  <a:srgbClr val="64FFDA"/>
                </a:solidFill>
                <a:latin typeface="Inter"/>
                <a:ea typeface="Inter"/>
                <a:cs typeface="Inter"/>
                <a:sym typeface="Inter"/>
              </a:endParaRPr>
            </a:p>
          </p:txBody>
        </p:sp>
      </p:grpSp>
      <p:grpSp>
        <p:nvGrpSpPr>
          <p:cNvPr id="136" name="Google Shape;136;p17"/>
          <p:cNvGrpSpPr/>
          <p:nvPr/>
        </p:nvGrpSpPr>
        <p:grpSpPr>
          <a:xfrm>
            <a:off x="4667250" y="1524000"/>
            <a:ext cx="1857300" cy="2238300"/>
            <a:chOff x="0" y="0"/>
            <a:chExt cx="1857300" cy="2238300"/>
          </a:xfrm>
        </p:grpSpPr>
        <p:sp>
          <p:nvSpPr>
            <p:cNvPr id="137" name="Google Shape;137;p17"/>
            <p:cNvSpPr/>
            <p:nvPr/>
          </p:nvSpPr>
          <p:spPr>
            <a:xfrm>
              <a:off x="0" y="0"/>
              <a:ext cx="1857300" cy="2238300"/>
            </a:xfrm>
            <a:prstGeom prst="roundRect">
              <a:avLst>
                <a:gd fmla="val 4102" name="adj"/>
              </a:avLst>
            </a:prstGeom>
            <a:solidFill>
              <a:srgbClr val="1C2541"/>
            </a:solidFill>
            <a:ln cap="flat" cmpd="sng" w="14300">
              <a:solidFill>
                <a:srgbClr val="3A506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17"/>
            <p:cNvSpPr txBox="1"/>
            <p:nvPr/>
          </p:nvSpPr>
          <p:spPr>
            <a:xfrm>
              <a:off x="0" y="0"/>
              <a:ext cx="1857300" cy="22383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000">
                  <a:solidFill>
                    <a:srgbClr val="38BDF8"/>
                  </a:solidFill>
                  <a:latin typeface="Inter"/>
                  <a:ea typeface="Inter"/>
                  <a:cs typeface="Inter"/>
                  <a:sym typeface="Inter"/>
                </a:rPr>
                <a:t>GENETIC ALGORITHM</a:t>
              </a:r>
              <a:endParaRPr b="1" sz="1000">
                <a:solidFill>
                  <a:srgbClr val="38BDF8"/>
                </a:solidFill>
                <a:latin typeface="Inter"/>
                <a:ea typeface="Inter"/>
                <a:cs typeface="Inter"/>
                <a:sym typeface="Inter"/>
              </a:endParaRPr>
            </a:p>
            <a:p>
              <a:pPr indent="0" lvl="0" marL="0" rtl="0" algn="l">
                <a:spcBef>
                  <a:spcPts val="0"/>
                </a:spcBef>
                <a:spcAft>
                  <a:spcPts val="0"/>
                </a:spcAft>
                <a:buNone/>
              </a:pPr>
              <a:r>
                <a:rPr b="0" lang="en" sz="2400">
                  <a:solidFill>
                    <a:srgbClr val="FFFFFF"/>
                  </a:solidFill>
                  <a:latin typeface="Inter ExtraBold"/>
                  <a:ea typeface="Inter ExtraBold"/>
                  <a:cs typeface="Inter ExtraBold"/>
                  <a:sym typeface="Inter ExtraBold"/>
                </a:rPr>
                <a:t>0.9723s</a:t>
              </a:r>
              <a:endParaRPr b="0" sz="2400">
                <a:solidFill>
                  <a:srgbClr val="FFFFFF"/>
                </a:solidFill>
                <a:latin typeface="Inter ExtraBold"/>
                <a:ea typeface="Inter ExtraBold"/>
                <a:cs typeface="Inter ExtraBold"/>
                <a:sym typeface="Inter ExtraBold"/>
              </a:endParaRPr>
            </a:p>
            <a:p>
              <a:pPr indent="0" lvl="0" marL="0" rtl="0" algn="l">
                <a:spcBef>
                  <a:spcPts val="375"/>
                </a:spcBef>
                <a:spcAft>
                  <a:spcPts val="0"/>
                </a:spcAft>
                <a:buNone/>
              </a:pPr>
              <a:r>
                <a:rPr lang="en" sz="1000">
                  <a:solidFill>
                    <a:srgbClr val="94A3B8"/>
                  </a:solidFill>
                  <a:latin typeface="Inter"/>
                  <a:ea typeface="Inter"/>
                  <a:cs typeface="Inter"/>
                  <a:sym typeface="Inter"/>
                </a:rPr>
                <a:t>Execution Runtime</a:t>
              </a:r>
              <a:endParaRPr sz="1000">
                <a:solidFill>
                  <a:srgbClr val="94A3B8"/>
                </a:solidFill>
                <a:latin typeface="Inter"/>
                <a:ea typeface="Inter"/>
                <a:cs typeface="Inter"/>
                <a:sym typeface="Inter"/>
              </a:endParaRPr>
            </a:p>
            <a:p>
              <a:pPr indent="0" lvl="0" marL="0" rtl="0" algn="l">
                <a:spcBef>
                  <a:spcPts val="0"/>
                </a:spcBef>
                <a:spcAft>
                  <a:spcPts val="0"/>
                </a:spcAft>
                <a:buNone/>
              </a:pPr>
              <a:r>
                <a:rPr b="0" lang="en" sz="1050">
                  <a:solidFill>
                    <a:srgbClr val="FFFFFF"/>
                  </a:solidFill>
                  <a:latin typeface="Inter SemiBold"/>
                  <a:ea typeface="Inter SemiBold"/>
                  <a:cs typeface="Inter SemiBold"/>
                  <a:sym typeface="Inter SemiBold"/>
                </a:rPr>
                <a:t>5 Subsets</a:t>
              </a:r>
              <a:endParaRPr b="0" sz="1050">
                <a:solidFill>
                  <a:srgbClr val="FFFFFF"/>
                </a:solidFill>
                <a:latin typeface="Inter SemiBold"/>
                <a:ea typeface="Inter SemiBold"/>
                <a:cs typeface="Inter SemiBold"/>
                <a:sym typeface="Inter SemiBold"/>
              </a:endParaRPr>
            </a:p>
            <a:p>
              <a:pPr indent="0" lvl="0" marL="0" rtl="0" algn="l">
                <a:spcBef>
                  <a:spcPts val="150"/>
                </a:spcBef>
                <a:spcAft>
                  <a:spcPts val="0"/>
                </a:spcAft>
                <a:buNone/>
              </a:pPr>
              <a:r>
                <a:rPr b="1" lang="en" sz="950">
                  <a:solidFill>
                    <a:srgbClr val="64FFDA"/>
                  </a:solidFill>
                  <a:latin typeface="Inter"/>
                  <a:ea typeface="Inter"/>
                  <a:cs typeface="Inter"/>
                  <a:sym typeface="Inter"/>
                </a:rPr>
                <a:t>0.00% Gap (Optimum)</a:t>
              </a:r>
              <a:endParaRPr b="1" sz="950">
                <a:solidFill>
                  <a:srgbClr val="64FFDA"/>
                </a:solidFill>
                <a:latin typeface="Inter"/>
                <a:ea typeface="Inter"/>
                <a:cs typeface="Inter"/>
                <a:sym typeface="Inter"/>
              </a:endParaRPr>
            </a:p>
          </p:txBody>
        </p:sp>
      </p:grpSp>
      <p:grpSp>
        <p:nvGrpSpPr>
          <p:cNvPr id="139" name="Google Shape;139;p17"/>
          <p:cNvGrpSpPr/>
          <p:nvPr/>
        </p:nvGrpSpPr>
        <p:grpSpPr>
          <a:xfrm>
            <a:off x="6715125" y="1524000"/>
            <a:ext cx="1857300" cy="2238300"/>
            <a:chOff x="0" y="0"/>
            <a:chExt cx="1857300" cy="2238300"/>
          </a:xfrm>
        </p:grpSpPr>
        <p:sp>
          <p:nvSpPr>
            <p:cNvPr id="140" name="Google Shape;140;p17"/>
            <p:cNvSpPr/>
            <p:nvPr/>
          </p:nvSpPr>
          <p:spPr>
            <a:xfrm>
              <a:off x="0" y="0"/>
              <a:ext cx="1857300" cy="2238300"/>
            </a:xfrm>
            <a:prstGeom prst="roundRect">
              <a:avLst>
                <a:gd fmla="val 4102" name="adj"/>
              </a:avLst>
            </a:prstGeom>
            <a:solidFill>
              <a:srgbClr val="1C2541"/>
            </a:solidFill>
            <a:ln cap="flat" cmpd="sng" w="14300">
              <a:solidFill>
                <a:srgbClr val="3A506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7"/>
            <p:cNvSpPr txBox="1"/>
            <p:nvPr/>
          </p:nvSpPr>
          <p:spPr>
            <a:xfrm>
              <a:off x="0" y="0"/>
              <a:ext cx="1857300" cy="22383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000">
                  <a:solidFill>
                    <a:srgbClr val="94A3B8"/>
                  </a:solidFill>
                  <a:latin typeface="Inter"/>
                  <a:ea typeface="Inter"/>
                  <a:cs typeface="Inter"/>
                  <a:sym typeface="Inter"/>
                </a:rPr>
                <a:t>GREEDY HEURISTIC</a:t>
              </a:r>
              <a:endParaRPr b="1" sz="1000">
                <a:solidFill>
                  <a:srgbClr val="94A3B8"/>
                </a:solidFill>
                <a:latin typeface="Inter"/>
                <a:ea typeface="Inter"/>
                <a:cs typeface="Inter"/>
                <a:sym typeface="Inter"/>
              </a:endParaRPr>
            </a:p>
            <a:p>
              <a:pPr indent="0" lvl="0" marL="0" rtl="0" algn="l">
                <a:spcBef>
                  <a:spcPts val="0"/>
                </a:spcBef>
                <a:spcAft>
                  <a:spcPts val="0"/>
                </a:spcAft>
                <a:buNone/>
              </a:pPr>
              <a:r>
                <a:rPr b="0" lang="en" sz="2400">
                  <a:solidFill>
                    <a:srgbClr val="FFFFFF"/>
                  </a:solidFill>
                  <a:latin typeface="Inter ExtraBold"/>
                  <a:ea typeface="Inter ExtraBold"/>
                  <a:cs typeface="Inter ExtraBold"/>
                  <a:sym typeface="Inter ExtraBold"/>
                </a:rPr>
                <a:t>0.0000s</a:t>
              </a:r>
              <a:endParaRPr b="0" sz="2400">
                <a:solidFill>
                  <a:srgbClr val="FFFFFF"/>
                </a:solidFill>
                <a:latin typeface="Inter ExtraBold"/>
                <a:ea typeface="Inter ExtraBold"/>
                <a:cs typeface="Inter ExtraBold"/>
                <a:sym typeface="Inter ExtraBold"/>
              </a:endParaRPr>
            </a:p>
            <a:p>
              <a:pPr indent="0" lvl="0" marL="0" rtl="0" algn="l">
                <a:spcBef>
                  <a:spcPts val="375"/>
                </a:spcBef>
                <a:spcAft>
                  <a:spcPts val="0"/>
                </a:spcAft>
                <a:buNone/>
              </a:pPr>
              <a:r>
                <a:rPr lang="en" sz="1000">
                  <a:solidFill>
                    <a:srgbClr val="94A3B8"/>
                  </a:solidFill>
                  <a:latin typeface="Inter"/>
                  <a:ea typeface="Inter"/>
                  <a:cs typeface="Inter"/>
                  <a:sym typeface="Inter"/>
                </a:rPr>
                <a:t>Execution Runtime</a:t>
              </a:r>
              <a:endParaRPr sz="1000">
                <a:solidFill>
                  <a:srgbClr val="94A3B8"/>
                </a:solidFill>
                <a:latin typeface="Inter"/>
                <a:ea typeface="Inter"/>
                <a:cs typeface="Inter"/>
                <a:sym typeface="Inter"/>
              </a:endParaRPr>
            </a:p>
            <a:p>
              <a:pPr indent="0" lvl="0" marL="0" rtl="0" algn="l">
                <a:spcBef>
                  <a:spcPts val="0"/>
                </a:spcBef>
                <a:spcAft>
                  <a:spcPts val="0"/>
                </a:spcAft>
                <a:buNone/>
              </a:pPr>
              <a:r>
                <a:rPr b="0" lang="en" sz="1050">
                  <a:solidFill>
                    <a:srgbClr val="FFFFFF"/>
                  </a:solidFill>
                  <a:latin typeface="Inter SemiBold"/>
                  <a:ea typeface="Inter SemiBold"/>
                  <a:cs typeface="Inter SemiBold"/>
                  <a:sym typeface="Inter SemiBold"/>
                </a:rPr>
                <a:t>6 Subsets</a:t>
              </a:r>
              <a:endParaRPr b="0" sz="1050">
                <a:solidFill>
                  <a:srgbClr val="FFFFFF"/>
                </a:solidFill>
                <a:latin typeface="Inter SemiBold"/>
                <a:ea typeface="Inter SemiBold"/>
                <a:cs typeface="Inter SemiBold"/>
                <a:sym typeface="Inter SemiBold"/>
              </a:endParaRPr>
            </a:p>
            <a:p>
              <a:pPr indent="0" lvl="0" marL="0" rtl="0" algn="l">
                <a:spcBef>
                  <a:spcPts val="150"/>
                </a:spcBef>
                <a:spcAft>
                  <a:spcPts val="0"/>
                </a:spcAft>
                <a:buNone/>
              </a:pPr>
              <a:r>
                <a:rPr b="1" lang="en" sz="950">
                  <a:solidFill>
                    <a:srgbClr val="F43F5E"/>
                  </a:solidFill>
                  <a:latin typeface="Inter"/>
                  <a:ea typeface="Inter"/>
                  <a:cs typeface="Inter"/>
                  <a:sym typeface="Inter"/>
                </a:rPr>
                <a:t>+20.00% Gap (Trap)</a:t>
              </a:r>
              <a:endParaRPr b="1" sz="950">
                <a:solidFill>
                  <a:srgbClr val="F43F5E"/>
                </a:solidFill>
                <a:latin typeface="Inter"/>
                <a:ea typeface="Inter"/>
                <a:cs typeface="Inter"/>
                <a:sym typeface="Inter"/>
              </a:endParaRPr>
            </a:p>
          </p:txBody>
        </p:sp>
      </p:grpSp>
      <p:grpSp>
        <p:nvGrpSpPr>
          <p:cNvPr id="142" name="Google Shape;142;p17"/>
          <p:cNvGrpSpPr/>
          <p:nvPr/>
        </p:nvGrpSpPr>
        <p:grpSpPr>
          <a:xfrm>
            <a:off x="571500" y="4000500"/>
            <a:ext cx="8001000" cy="619200"/>
            <a:chOff x="0" y="0"/>
            <a:chExt cx="8001000" cy="619200"/>
          </a:xfrm>
        </p:grpSpPr>
        <p:sp>
          <p:nvSpPr>
            <p:cNvPr id="143" name="Google Shape;143;p17"/>
            <p:cNvSpPr/>
            <p:nvPr/>
          </p:nvSpPr>
          <p:spPr>
            <a:xfrm>
              <a:off x="0" y="0"/>
              <a:ext cx="8001000" cy="619200"/>
            </a:xfrm>
            <a:prstGeom prst="roundRect">
              <a:avLst>
                <a:gd fmla="val 12307" name="adj"/>
              </a:avLst>
            </a:prstGeom>
            <a:solidFill>
              <a:srgbClr val="1C2541"/>
            </a:solidFill>
            <a:ln cap="flat" cmpd="sng" w="14300">
              <a:solidFill>
                <a:srgbClr val="3A506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7"/>
            <p:cNvSpPr txBox="1"/>
            <p:nvPr/>
          </p:nvSpPr>
          <p:spPr>
            <a:xfrm>
              <a:off x="0" y="0"/>
              <a:ext cx="8001000" cy="619200"/>
            </a:xfrm>
            <a:prstGeom prst="rect">
              <a:avLst/>
            </a:prstGeom>
            <a:noFill/>
            <a:ln>
              <a:noFill/>
            </a:ln>
          </p:spPr>
          <p:txBody>
            <a:bodyPr anchorCtr="0" anchor="t" bIns="0" lIns="190500" spcFirstLastPara="1" rIns="190500" wrap="square" tIns="0">
              <a:noAutofit/>
            </a:bodyPr>
            <a:lstStyle/>
            <a:p>
              <a:pPr indent="0" lvl="0" marL="0" rtl="0" algn="ctr">
                <a:spcBef>
                  <a:spcPts val="0"/>
                </a:spcBef>
                <a:spcAft>
                  <a:spcPts val="0"/>
                </a:spcAft>
                <a:buNone/>
              </a:pPr>
              <a:r>
                <a:rPr b="1" lang="en" sz="1150">
                  <a:solidFill>
                    <a:srgbClr val="64FFDA"/>
                  </a:solidFill>
                  <a:latin typeface="Inter"/>
                  <a:ea typeface="Inter"/>
                  <a:cs typeface="Inter"/>
                  <a:sym typeface="Inter"/>
                </a:rPr>
                <a:t>KEY FINDING:</a:t>
              </a:r>
              <a:r>
                <a:rPr b="0" lang="en" sz="1150">
                  <a:solidFill>
                    <a:srgbClr val="FFFFFF"/>
                  </a:solidFill>
                  <a:latin typeface="Inter Medium"/>
                  <a:ea typeface="Inter Medium"/>
                  <a:cs typeface="Inter Medium"/>
                  <a:sym typeface="Inter Medium"/>
                </a:rPr>
                <a:t>Harmony Search matched global optimality while executing </a:t>
              </a:r>
              <a:r>
                <a:rPr b="1" lang="en" sz="1150">
                  <a:solidFill>
                    <a:srgbClr val="64FFDA"/>
                  </a:solidFill>
                  <a:latin typeface="Inter"/>
                  <a:ea typeface="Inter"/>
                  <a:cs typeface="Inter"/>
                  <a:sym typeface="Inter"/>
                </a:rPr>
                <a:t>~83x faster</a:t>
              </a:r>
              <a:r>
                <a:rPr b="0" lang="en" sz="1150">
                  <a:solidFill>
                    <a:srgbClr val="FFFFFF"/>
                  </a:solidFill>
                  <a:latin typeface="Inter Medium"/>
                  <a:ea typeface="Inter Medium"/>
                  <a:cs typeface="Inter Medium"/>
                  <a:sym typeface="Inter Medium"/>
                </a:rPr>
                <a:t> than Genetic Algorithm.</a:t>
              </a:r>
              <a:endParaRPr>
                <a:latin typeface="Inter"/>
                <a:ea typeface="Inter"/>
                <a:cs typeface="Inter"/>
                <a:sym typeface="Inte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9" name="Shape 149"/>
        <p:cNvGrpSpPr/>
        <p:nvPr/>
      </p:nvGrpSpPr>
      <p:grpSpPr>
        <a:xfrm>
          <a:off x="0" y="0"/>
          <a:ext cx="0" cy="0"/>
          <a:chOff x="0" y="0"/>
          <a:chExt cx="0" cy="0"/>
        </a:xfrm>
      </p:grpSpPr>
      <p:sp>
        <p:nvSpPr>
          <p:cNvPr id="150" name="Google Shape;150;p18"/>
          <p:cNvSpPr txBox="1"/>
          <p:nvPr/>
        </p:nvSpPr>
        <p:spPr>
          <a:xfrm>
            <a:off x="571500" y="381000"/>
            <a:ext cx="8001000" cy="3417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2220">
                <a:solidFill>
                  <a:srgbClr val="FFFFFF"/>
                </a:solidFill>
                <a:latin typeface="Montserrat ExtraBold"/>
                <a:ea typeface="Montserrat ExtraBold"/>
                <a:cs typeface="Montserrat ExtraBold"/>
                <a:sym typeface="Montserrat ExtraBold"/>
              </a:rPr>
              <a:t>Runtime Scalability: Synthetic Suite (N = 64 → 2048)</a:t>
            </a:r>
            <a:endParaRPr b="0" sz="2220">
              <a:solidFill>
                <a:srgbClr val="FFFFFF"/>
              </a:solidFill>
              <a:latin typeface="Montserrat ExtraBold"/>
              <a:ea typeface="Montserrat ExtraBold"/>
              <a:cs typeface="Montserrat ExtraBold"/>
              <a:sym typeface="Montserrat ExtraBold"/>
            </a:endParaRPr>
          </a:p>
        </p:txBody>
      </p:sp>
      <p:grpSp>
        <p:nvGrpSpPr>
          <p:cNvPr id="151" name="Google Shape;151;p18"/>
          <p:cNvGrpSpPr/>
          <p:nvPr/>
        </p:nvGrpSpPr>
        <p:grpSpPr>
          <a:xfrm>
            <a:off x="571500" y="1143000"/>
            <a:ext cx="3714900" cy="1047900"/>
            <a:chOff x="0" y="0"/>
            <a:chExt cx="3714900" cy="1047900"/>
          </a:xfrm>
        </p:grpSpPr>
        <p:sp>
          <p:nvSpPr>
            <p:cNvPr id="152" name="Google Shape;152;p18"/>
            <p:cNvSpPr/>
            <p:nvPr/>
          </p:nvSpPr>
          <p:spPr>
            <a:xfrm>
              <a:off x="0" y="0"/>
              <a:ext cx="3714900" cy="1047900"/>
            </a:xfrm>
            <a:prstGeom prst="roundRect">
              <a:avLst>
                <a:gd fmla="val 7272" name="adj"/>
              </a:avLst>
            </a:prstGeom>
            <a:solidFill>
              <a:srgbClr val="1C2541"/>
            </a:solidFill>
            <a:ln cap="flat" cmpd="sng" w="9525">
              <a:solidFill>
                <a:srgbClr val="3A506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 name="Google Shape;153;p18"/>
            <p:cNvSpPr txBox="1"/>
            <p:nvPr/>
          </p:nvSpPr>
          <p:spPr>
            <a:xfrm>
              <a:off x="0" y="0"/>
              <a:ext cx="3714900" cy="1047900"/>
            </a:xfrm>
            <a:prstGeom prst="rect">
              <a:avLst/>
            </a:prstGeom>
            <a:noFill/>
            <a:ln>
              <a:noFill/>
            </a:ln>
          </p:spPr>
          <p:txBody>
            <a:bodyPr anchorCtr="0" anchor="ctr" bIns="142875" lIns="142875" spcFirstLastPara="1" rIns="142875" wrap="square" tIns="142875">
              <a:noAutofit/>
            </a:bodyPr>
            <a:lstStyle/>
            <a:p>
              <a:pPr indent="0" lvl="0" marL="0" rtl="0" algn="l">
                <a:spcBef>
                  <a:spcPts val="0"/>
                </a:spcBef>
                <a:spcAft>
                  <a:spcPts val="0"/>
                </a:spcAft>
                <a:buNone/>
              </a:pPr>
              <a:r>
                <a:rPr b="1" lang="en" sz="950">
                  <a:solidFill>
                    <a:srgbClr val="F43F5E"/>
                  </a:solidFill>
                  <a:latin typeface="Inter"/>
                  <a:ea typeface="Inter"/>
                  <a:cs typeface="Inter"/>
                  <a:sym typeface="Inter"/>
                </a:rPr>
                <a:t>ILP INTRACTABILITY CEILING</a:t>
              </a:r>
              <a:endParaRPr b="1" sz="950">
                <a:solidFill>
                  <a:srgbClr val="F43F5E"/>
                </a:solidFill>
                <a:latin typeface="Inter"/>
                <a:ea typeface="Inter"/>
                <a:cs typeface="Inter"/>
                <a:sym typeface="Inter"/>
              </a:endParaRPr>
            </a:p>
            <a:p>
              <a:pPr indent="0" lvl="0" marL="0" rtl="0" algn="l">
                <a:spcBef>
                  <a:spcPts val="300"/>
                </a:spcBef>
                <a:spcAft>
                  <a:spcPts val="0"/>
                </a:spcAft>
                <a:buNone/>
              </a:pPr>
              <a:r>
                <a:rPr b="0" lang="en" sz="1050">
                  <a:solidFill>
                    <a:srgbClr val="94A3B8"/>
                  </a:solidFill>
                  <a:latin typeface="Inter"/>
                  <a:ea typeface="Inter"/>
                  <a:cs typeface="Inter"/>
                  <a:sym typeface="Inter"/>
                </a:rPr>
                <a:t>Solves N ≤ 256 in &lt; 1.5s, but hits 60s timeout at N = 512/1024, becoming intractable at N = 2048.</a:t>
              </a:r>
              <a:endParaRPr b="0" sz="1050">
                <a:solidFill>
                  <a:srgbClr val="94A3B8"/>
                </a:solidFill>
                <a:latin typeface="Inter"/>
                <a:ea typeface="Inter"/>
                <a:cs typeface="Inter"/>
                <a:sym typeface="Inter"/>
              </a:endParaRPr>
            </a:p>
          </p:txBody>
        </p:sp>
      </p:grpSp>
      <p:pic>
        <p:nvPicPr>
          <p:cNvPr descr="scaling_runtime_comparison.png" id="154" name="Google Shape;154;p18"/>
          <p:cNvPicPr preferRelativeResize="0"/>
          <p:nvPr/>
        </p:nvPicPr>
        <p:blipFill rotWithShape="1">
          <a:blip r:embed="rId4">
            <a:alphaModFix/>
          </a:blip>
          <a:srcRect b="0" l="0" r="0" t="0"/>
          <a:stretch/>
        </p:blipFill>
        <p:spPr>
          <a:xfrm>
            <a:off x="4457819" y="1028700"/>
            <a:ext cx="4251962" cy="2551176"/>
          </a:xfrm>
          <a:prstGeom prst="rect">
            <a:avLst/>
          </a:prstGeom>
          <a:noFill/>
          <a:ln>
            <a:noFill/>
          </a:ln>
        </p:spPr>
      </p:pic>
      <p:grpSp>
        <p:nvGrpSpPr>
          <p:cNvPr id="155" name="Google Shape;155;p18"/>
          <p:cNvGrpSpPr/>
          <p:nvPr/>
        </p:nvGrpSpPr>
        <p:grpSpPr>
          <a:xfrm>
            <a:off x="571500" y="2333625"/>
            <a:ext cx="3714900" cy="904800"/>
            <a:chOff x="0" y="0"/>
            <a:chExt cx="3714900" cy="904800"/>
          </a:xfrm>
        </p:grpSpPr>
        <p:sp>
          <p:nvSpPr>
            <p:cNvPr id="156" name="Google Shape;156;p18"/>
            <p:cNvSpPr/>
            <p:nvPr/>
          </p:nvSpPr>
          <p:spPr>
            <a:xfrm>
              <a:off x="0" y="0"/>
              <a:ext cx="3714900" cy="904800"/>
            </a:xfrm>
            <a:prstGeom prst="roundRect">
              <a:avLst>
                <a:gd fmla="val 8421" name="adj"/>
              </a:avLst>
            </a:prstGeom>
            <a:solidFill>
              <a:srgbClr val="1C2541"/>
            </a:solidFill>
            <a:ln cap="flat" cmpd="sng" w="9525">
              <a:solidFill>
                <a:srgbClr val="3A506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 name="Google Shape;157;p18"/>
            <p:cNvSpPr txBox="1"/>
            <p:nvPr/>
          </p:nvSpPr>
          <p:spPr>
            <a:xfrm>
              <a:off x="0" y="0"/>
              <a:ext cx="3714900" cy="904800"/>
            </a:xfrm>
            <a:prstGeom prst="rect">
              <a:avLst/>
            </a:prstGeom>
            <a:noFill/>
            <a:ln>
              <a:noFill/>
            </a:ln>
          </p:spPr>
          <p:txBody>
            <a:bodyPr anchorCtr="0" anchor="ctr" bIns="142875" lIns="142875" spcFirstLastPara="1" rIns="142875" wrap="square" tIns="142875">
              <a:noAutofit/>
            </a:bodyPr>
            <a:lstStyle/>
            <a:p>
              <a:pPr indent="0" lvl="0" marL="0" rtl="0" algn="l">
                <a:spcBef>
                  <a:spcPts val="0"/>
                </a:spcBef>
                <a:spcAft>
                  <a:spcPts val="0"/>
                </a:spcAft>
                <a:buNone/>
              </a:pPr>
              <a:r>
                <a:rPr b="1" lang="en" sz="950">
                  <a:solidFill>
                    <a:srgbClr val="64FFDA"/>
                  </a:solidFill>
                  <a:latin typeface="Inter"/>
                  <a:ea typeface="Inter"/>
                  <a:cs typeface="Inter"/>
                  <a:sym typeface="Inter"/>
                </a:rPr>
                <a:t>GREEDY EFFICIENCY</a:t>
              </a:r>
              <a:endParaRPr b="1" sz="950">
                <a:solidFill>
                  <a:srgbClr val="64FFDA"/>
                </a:solidFill>
                <a:latin typeface="Inter"/>
                <a:ea typeface="Inter"/>
                <a:cs typeface="Inter"/>
                <a:sym typeface="Inter"/>
              </a:endParaRPr>
            </a:p>
            <a:p>
              <a:pPr indent="0" lvl="0" marL="0" rtl="0" algn="l">
                <a:spcBef>
                  <a:spcPts val="300"/>
                </a:spcBef>
                <a:spcAft>
                  <a:spcPts val="0"/>
                </a:spcAft>
                <a:buNone/>
              </a:pPr>
              <a:r>
                <a:rPr b="0" lang="en" sz="1050">
                  <a:solidFill>
                    <a:srgbClr val="94A3B8"/>
                  </a:solidFill>
                  <a:latin typeface="Inter"/>
                  <a:ea typeface="Inter"/>
                  <a:cs typeface="Inter"/>
                  <a:sym typeface="Inter"/>
                </a:rPr>
                <a:t>Sub-second runtime across all scales (</a:t>
              </a:r>
              <a:r>
                <a:rPr b="0" lang="en" sz="1050">
                  <a:solidFill>
                    <a:srgbClr val="64FFDA"/>
                  </a:solidFill>
                  <a:latin typeface="Inter SemiBold"/>
                  <a:ea typeface="Inter SemiBold"/>
                  <a:cs typeface="Inter SemiBold"/>
                  <a:sym typeface="Inter SemiBold"/>
                </a:rPr>
                <a:t>0.0913s</a:t>
              </a:r>
              <a:r>
                <a:rPr b="0" lang="en" sz="1050">
                  <a:solidFill>
                    <a:srgbClr val="94A3B8"/>
                  </a:solidFill>
                  <a:latin typeface="Inter"/>
                  <a:ea typeface="Inter"/>
                  <a:cs typeface="Inter"/>
                  <a:sym typeface="Inter"/>
                </a:rPr>
                <a:t> at N = 2048).</a:t>
              </a:r>
              <a:endParaRPr b="0" sz="1050">
                <a:solidFill>
                  <a:srgbClr val="94A3B8"/>
                </a:solidFill>
                <a:latin typeface="Inter"/>
                <a:ea typeface="Inter"/>
                <a:cs typeface="Inter"/>
                <a:sym typeface="Inter"/>
              </a:endParaRPr>
            </a:p>
          </p:txBody>
        </p:sp>
      </p:grpSp>
      <p:grpSp>
        <p:nvGrpSpPr>
          <p:cNvPr id="158" name="Google Shape;158;p18"/>
          <p:cNvGrpSpPr/>
          <p:nvPr/>
        </p:nvGrpSpPr>
        <p:grpSpPr>
          <a:xfrm>
            <a:off x="571500" y="3381375"/>
            <a:ext cx="3714900" cy="904800"/>
            <a:chOff x="0" y="0"/>
            <a:chExt cx="3714900" cy="904800"/>
          </a:xfrm>
        </p:grpSpPr>
        <p:sp>
          <p:nvSpPr>
            <p:cNvPr id="159" name="Google Shape;159;p18"/>
            <p:cNvSpPr/>
            <p:nvPr/>
          </p:nvSpPr>
          <p:spPr>
            <a:xfrm>
              <a:off x="0" y="0"/>
              <a:ext cx="3714900" cy="904800"/>
            </a:xfrm>
            <a:prstGeom prst="roundRect">
              <a:avLst>
                <a:gd fmla="val 8421" name="adj"/>
              </a:avLst>
            </a:prstGeom>
            <a:solidFill>
              <a:srgbClr val="1C2541"/>
            </a:solidFill>
            <a:ln cap="flat" cmpd="sng" w="9525">
              <a:solidFill>
                <a:srgbClr val="3A506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 name="Google Shape;160;p18"/>
            <p:cNvSpPr txBox="1"/>
            <p:nvPr/>
          </p:nvSpPr>
          <p:spPr>
            <a:xfrm>
              <a:off x="0" y="0"/>
              <a:ext cx="3714900" cy="904800"/>
            </a:xfrm>
            <a:prstGeom prst="rect">
              <a:avLst/>
            </a:prstGeom>
            <a:noFill/>
            <a:ln>
              <a:noFill/>
            </a:ln>
          </p:spPr>
          <p:txBody>
            <a:bodyPr anchorCtr="0" anchor="ctr" bIns="142875" lIns="142875" spcFirstLastPara="1" rIns="142875" wrap="square" tIns="142875">
              <a:noAutofit/>
            </a:bodyPr>
            <a:lstStyle/>
            <a:p>
              <a:pPr indent="0" lvl="0" marL="0" rtl="0" algn="l">
                <a:spcBef>
                  <a:spcPts val="0"/>
                </a:spcBef>
                <a:spcAft>
                  <a:spcPts val="0"/>
                </a:spcAft>
                <a:buNone/>
              </a:pPr>
              <a:r>
                <a:rPr b="1" lang="en" sz="950">
                  <a:solidFill>
                    <a:srgbClr val="38BDF8"/>
                  </a:solidFill>
                  <a:latin typeface="Inter"/>
                  <a:ea typeface="Inter"/>
                  <a:cs typeface="Inter"/>
                  <a:sym typeface="Inter"/>
                </a:rPr>
                <a:t>METAHEURISTIC BOUNDED RUNTIME</a:t>
              </a:r>
              <a:endParaRPr b="1" sz="950">
                <a:solidFill>
                  <a:srgbClr val="38BDF8"/>
                </a:solidFill>
                <a:latin typeface="Inter"/>
                <a:ea typeface="Inter"/>
                <a:cs typeface="Inter"/>
                <a:sym typeface="Inter"/>
              </a:endParaRPr>
            </a:p>
            <a:p>
              <a:pPr indent="0" lvl="0" marL="0" rtl="0" algn="l">
                <a:spcBef>
                  <a:spcPts val="300"/>
                </a:spcBef>
                <a:spcAft>
                  <a:spcPts val="0"/>
                </a:spcAft>
                <a:buNone/>
              </a:pPr>
              <a:r>
                <a:rPr b="0" lang="en" sz="1050">
                  <a:solidFill>
                    <a:srgbClr val="94A3B8"/>
                  </a:solidFill>
                  <a:latin typeface="Inter"/>
                  <a:ea typeface="Inter"/>
                  <a:cs typeface="Inter"/>
                  <a:sym typeface="Inter"/>
                </a:rPr>
                <a:t>Runtime scaling is strictly bounded by maximum generation limits.</a:t>
              </a:r>
              <a:endParaRPr b="0" sz="1050">
                <a:solidFill>
                  <a:srgbClr val="94A3B8"/>
                </a:solidFill>
                <a:latin typeface="Inter"/>
                <a:ea typeface="Inter"/>
                <a:cs typeface="Inter"/>
                <a:sym typeface="Inte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5" name="Shape 165"/>
        <p:cNvGrpSpPr/>
        <p:nvPr/>
      </p:nvGrpSpPr>
      <p:grpSpPr>
        <a:xfrm>
          <a:off x="0" y="0"/>
          <a:ext cx="0" cy="0"/>
          <a:chOff x="0" y="0"/>
          <a:chExt cx="0" cy="0"/>
        </a:xfrm>
      </p:grpSpPr>
      <p:sp>
        <p:nvSpPr>
          <p:cNvPr id="166" name="Google Shape;166;p19"/>
          <p:cNvSpPr txBox="1"/>
          <p:nvPr/>
        </p:nvSpPr>
        <p:spPr>
          <a:xfrm>
            <a:off x="571500" y="381000"/>
            <a:ext cx="8001000" cy="3387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 sz="2200">
                <a:solidFill>
                  <a:srgbClr val="FFFFFF"/>
                </a:solidFill>
                <a:latin typeface="Montserrat ExtraBold"/>
                <a:ea typeface="Montserrat ExtraBold"/>
                <a:cs typeface="Montserrat ExtraBold"/>
                <a:sym typeface="Montserrat ExtraBold"/>
              </a:rPr>
              <a:t>Solution Quality &amp; Search Space Dynamics</a:t>
            </a:r>
            <a:endParaRPr b="0" sz="2200">
              <a:solidFill>
                <a:srgbClr val="FFFFFF"/>
              </a:solidFill>
              <a:latin typeface="Montserrat ExtraBold"/>
              <a:ea typeface="Montserrat ExtraBold"/>
              <a:cs typeface="Montserrat ExtraBold"/>
              <a:sym typeface="Montserrat ExtraBold"/>
            </a:endParaRPr>
          </a:p>
        </p:txBody>
      </p:sp>
      <p:grpSp>
        <p:nvGrpSpPr>
          <p:cNvPr id="167" name="Google Shape;167;p19"/>
          <p:cNvGrpSpPr/>
          <p:nvPr/>
        </p:nvGrpSpPr>
        <p:grpSpPr>
          <a:xfrm>
            <a:off x="571500" y="1143000"/>
            <a:ext cx="3714900" cy="1428900"/>
            <a:chOff x="0" y="0"/>
            <a:chExt cx="3714900" cy="1428900"/>
          </a:xfrm>
        </p:grpSpPr>
        <p:sp>
          <p:nvSpPr>
            <p:cNvPr id="168" name="Google Shape;168;p19"/>
            <p:cNvSpPr/>
            <p:nvPr/>
          </p:nvSpPr>
          <p:spPr>
            <a:xfrm>
              <a:off x="0" y="0"/>
              <a:ext cx="3714900" cy="1428900"/>
            </a:xfrm>
            <a:prstGeom prst="roundRect">
              <a:avLst>
                <a:gd fmla="val 5333" name="adj"/>
              </a:avLst>
            </a:prstGeom>
            <a:solidFill>
              <a:srgbClr val="1C2541"/>
            </a:solidFill>
            <a:ln cap="flat" cmpd="sng" w="14300">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19"/>
            <p:cNvSpPr txBox="1"/>
            <p:nvPr/>
          </p:nvSpPr>
          <p:spPr>
            <a:xfrm>
              <a:off x="0" y="0"/>
              <a:ext cx="3714900" cy="14289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000">
                  <a:solidFill>
                    <a:srgbClr val="38BDF8"/>
                  </a:solidFill>
                  <a:latin typeface="Inter"/>
                  <a:ea typeface="Inter"/>
                  <a:cs typeface="Inter"/>
                  <a:sym typeface="Inter"/>
                </a:rPr>
                <a:t>GREEDY DOMINANCE (SYNTHETIC GRIDS)</a:t>
              </a:r>
              <a:endParaRPr b="1" sz="1000">
                <a:solidFill>
                  <a:srgbClr val="38BDF8"/>
                </a:solidFill>
                <a:latin typeface="Inter"/>
                <a:ea typeface="Inter"/>
                <a:cs typeface="Inter"/>
                <a:sym typeface="Inter"/>
              </a:endParaRPr>
            </a:p>
            <a:p>
              <a:pPr indent="0" lvl="0" marL="0" rtl="0" algn="l">
                <a:spcBef>
                  <a:spcPts val="300"/>
                </a:spcBef>
                <a:spcAft>
                  <a:spcPts val="0"/>
                </a:spcAft>
                <a:buNone/>
              </a:pPr>
              <a:r>
                <a:rPr b="0" lang="en" sz="1500">
                  <a:solidFill>
                    <a:srgbClr val="FFFFFF"/>
                  </a:solidFill>
                  <a:latin typeface="Inter ExtraBold"/>
                  <a:ea typeface="Inter ExtraBold"/>
                  <a:cs typeface="Inter ExtraBold"/>
                  <a:sym typeface="Inter ExtraBold"/>
                </a:rPr>
                <a:t>Tracked ILP baseline closely</a:t>
              </a:r>
              <a:endParaRPr b="0" sz="1500">
                <a:solidFill>
                  <a:srgbClr val="FFFFFF"/>
                </a:solidFill>
                <a:latin typeface="Inter ExtraBold"/>
                <a:ea typeface="Inter ExtraBold"/>
                <a:cs typeface="Inter ExtraBold"/>
                <a:sym typeface="Inter ExtraBold"/>
              </a:endParaRPr>
            </a:p>
            <a:p>
              <a:pPr indent="0" lvl="0" marL="0" rtl="0" algn="l">
                <a:spcBef>
                  <a:spcPts val="600"/>
                </a:spcBef>
                <a:spcAft>
                  <a:spcPts val="0"/>
                </a:spcAft>
                <a:buNone/>
              </a:pPr>
              <a:r>
                <a:rPr b="0" lang="en" sz="1100">
                  <a:solidFill>
                    <a:srgbClr val="94A3B8"/>
                  </a:solidFill>
                  <a:latin typeface="Inter"/>
                  <a:ea typeface="Inter"/>
                  <a:cs typeface="Inter"/>
                  <a:sym typeface="Inter"/>
                </a:rPr>
                <a:t>Demonstrated exceptional performance with a very narrow 0.00% - 20.00% optimality gap.</a:t>
              </a:r>
              <a:endParaRPr b="0" sz="1100">
                <a:solidFill>
                  <a:srgbClr val="94A3B8"/>
                </a:solidFill>
                <a:latin typeface="Inter"/>
                <a:ea typeface="Inter"/>
                <a:cs typeface="Inter"/>
                <a:sym typeface="Inter"/>
              </a:endParaRPr>
            </a:p>
          </p:txBody>
        </p:sp>
      </p:grpSp>
      <p:grpSp>
        <p:nvGrpSpPr>
          <p:cNvPr id="170" name="Google Shape;170;p19"/>
          <p:cNvGrpSpPr/>
          <p:nvPr/>
        </p:nvGrpSpPr>
        <p:grpSpPr>
          <a:xfrm>
            <a:off x="571500" y="2762250"/>
            <a:ext cx="3714900" cy="1571700"/>
            <a:chOff x="0" y="0"/>
            <a:chExt cx="3714900" cy="1571700"/>
          </a:xfrm>
        </p:grpSpPr>
        <p:sp>
          <p:nvSpPr>
            <p:cNvPr id="171" name="Google Shape;171;p19"/>
            <p:cNvSpPr/>
            <p:nvPr/>
          </p:nvSpPr>
          <p:spPr>
            <a:xfrm>
              <a:off x="0" y="0"/>
              <a:ext cx="3714900" cy="1571700"/>
            </a:xfrm>
            <a:prstGeom prst="roundRect">
              <a:avLst>
                <a:gd fmla="val 4848" name="adj"/>
              </a:avLst>
            </a:prstGeom>
            <a:solidFill>
              <a:srgbClr val="1C2541"/>
            </a:solidFill>
            <a:ln cap="flat" cmpd="sng" w="14300">
              <a:solidFill>
                <a:srgbClr val="F43F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19"/>
            <p:cNvSpPr txBox="1"/>
            <p:nvPr/>
          </p:nvSpPr>
          <p:spPr>
            <a:xfrm>
              <a:off x="0" y="0"/>
              <a:ext cx="3714900" cy="15717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000">
                  <a:solidFill>
                    <a:srgbClr val="F43F5E"/>
                  </a:solidFill>
                  <a:latin typeface="Inter"/>
                  <a:ea typeface="Inter"/>
                  <a:cs typeface="Inter"/>
                  <a:sym typeface="Inter"/>
                </a:rPr>
                <a:t>METAHEURISTIC SEARCH EXPLOSION</a:t>
              </a:r>
              <a:endParaRPr b="1" sz="1000">
                <a:solidFill>
                  <a:srgbClr val="F43F5E"/>
                </a:solidFill>
                <a:latin typeface="Inter"/>
                <a:ea typeface="Inter"/>
                <a:cs typeface="Inter"/>
                <a:sym typeface="Inter"/>
              </a:endParaRPr>
            </a:p>
            <a:p>
              <a:pPr indent="0" lvl="0" marL="0" rtl="0" algn="l">
                <a:spcBef>
                  <a:spcPts val="300"/>
                </a:spcBef>
                <a:spcAft>
                  <a:spcPts val="0"/>
                </a:spcAft>
                <a:buNone/>
              </a:pPr>
              <a:r>
                <a:rPr b="0" lang="en" sz="1500">
                  <a:solidFill>
                    <a:srgbClr val="FFFFFF"/>
                  </a:solidFill>
                  <a:latin typeface="Inter ExtraBold"/>
                  <a:ea typeface="Inter ExtraBold"/>
                  <a:cs typeface="Inter ExtraBold"/>
                  <a:sym typeface="Inter ExtraBold"/>
                </a:rPr>
                <a:t>Redundant subset accumulation</a:t>
              </a:r>
              <a:endParaRPr b="0" sz="1500">
                <a:solidFill>
                  <a:srgbClr val="FFFFFF"/>
                </a:solidFill>
                <a:latin typeface="Inter ExtraBold"/>
                <a:ea typeface="Inter ExtraBold"/>
                <a:cs typeface="Inter ExtraBold"/>
                <a:sym typeface="Inter ExtraBold"/>
              </a:endParaRPr>
            </a:p>
            <a:p>
              <a:pPr indent="0" lvl="0" marL="0" rtl="0" algn="l">
                <a:spcBef>
                  <a:spcPts val="600"/>
                </a:spcBef>
                <a:spcAft>
                  <a:spcPts val="0"/>
                </a:spcAft>
                <a:buNone/>
              </a:pPr>
              <a:r>
                <a:rPr b="0" lang="en" sz="1100">
                  <a:solidFill>
                    <a:srgbClr val="94A3B8"/>
                  </a:solidFill>
                  <a:latin typeface="Inter"/>
                  <a:ea typeface="Inter"/>
                  <a:cs typeface="Inter"/>
                  <a:sym typeface="Inter"/>
                </a:rPr>
                <a:t>Standard GA/HS without domain-specific repair pick redundant subsets during feasibility enforcement as N grows.</a:t>
              </a:r>
              <a:endParaRPr b="0" sz="1100">
                <a:solidFill>
                  <a:srgbClr val="94A3B8"/>
                </a:solidFill>
                <a:latin typeface="Inter"/>
                <a:ea typeface="Inter"/>
                <a:cs typeface="Inter"/>
                <a:sym typeface="Inter"/>
              </a:endParaRPr>
            </a:p>
          </p:txBody>
        </p:sp>
      </p:grpSp>
      <p:pic>
        <p:nvPicPr>
          <p:cNvPr id="173" name="Google Shape;173;p19"/>
          <p:cNvPicPr preferRelativeResize="0"/>
          <p:nvPr/>
        </p:nvPicPr>
        <p:blipFill rotWithShape="1">
          <a:blip r:embed="rId4">
            <a:alphaModFix/>
          </a:blip>
          <a:srcRect b="0" l="12395" r="12395" t="0"/>
          <a:stretch/>
        </p:blipFill>
        <p:spPr>
          <a:xfrm>
            <a:off x="4572000" y="1143000"/>
            <a:ext cx="4000500" cy="3190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8" name="Shape 178"/>
        <p:cNvGrpSpPr/>
        <p:nvPr/>
      </p:nvGrpSpPr>
      <p:grpSpPr>
        <a:xfrm>
          <a:off x="0" y="0"/>
          <a:ext cx="0" cy="0"/>
          <a:chOff x="0" y="0"/>
          <a:chExt cx="0" cy="0"/>
        </a:xfrm>
      </p:grpSpPr>
      <p:grpSp>
        <p:nvGrpSpPr>
          <p:cNvPr id="179" name="Google Shape;179;p20"/>
          <p:cNvGrpSpPr/>
          <p:nvPr/>
        </p:nvGrpSpPr>
        <p:grpSpPr>
          <a:xfrm>
            <a:off x="571500" y="381000"/>
            <a:ext cx="8001000" cy="381000"/>
            <a:chOff x="0" y="0"/>
            <a:chExt cx="8001000" cy="381000"/>
          </a:xfrm>
        </p:grpSpPr>
        <p:sp>
          <p:nvSpPr>
            <p:cNvPr id="180" name="Google Shape;180;p20"/>
            <p:cNvSpPr/>
            <p:nvPr/>
          </p:nvSpPr>
          <p:spPr>
            <a:xfrm>
              <a:off x="0" y="0"/>
              <a:ext cx="800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 name="Google Shape;181;p20"/>
            <p:cNvSpPr txBox="1"/>
            <p:nvPr/>
          </p:nvSpPr>
          <p:spPr>
            <a:xfrm>
              <a:off x="0" y="0"/>
              <a:ext cx="800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200">
                  <a:solidFill>
                    <a:srgbClr val="FFFFFF"/>
                  </a:solidFill>
                  <a:latin typeface="Montserrat ExtraBold"/>
                  <a:ea typeface="Montserrat ExtraBold"/>
                  <a:cs typeface="Montserrat ExtraBold"/>
                  <a:sym typeface="Montserrat ExtraBold"/>
                </a:rPr>
                <a:t>Trade-off Matrix &amp; Paradigm Selection Guide</a:t>
              </a:r>
              <a:endParaRPr b="0" sz="2200">
                <a:solidFill>
                  <a:srgbClr val="FFFFFF"/>
                </a:solidFill>
                <a:latin typeface="Montserrat ExtraBold"/>
                <a:ea typeface="Montserrat ExtraBold"/>
                <a:cs typeface="Montserrat ExtraBold"/>
                <a:sym typeface="Montserrat ExtraBold"/>
              </a:endParaRPr>
            </a:p>
          </p:txBody>
        </p:sp>
      </p:grpSp>
      <p:grpSp>
        <p:nvGrpSpPr>
          <p:cNvPr id="182" name="Google Shape;182;p20"/>
          <p:cNvGrpSpPr/>
          <p:nvPr/>
        </p:nvGrpSpPr>
        <p:grpSpPr>
          <a:xfrm>
            <a:off x="571500" y="1143000"/>
            <a:ext cx="2476500" cy="3238500"/>
            <a:chOff x="0" y="0"/>
            <a:chExt cx="2476500" cy="3238500"/>
          </a:xfrm>
        </p:grpSpPr>
        <p:sp>
          <p:nvSpPr>
            <p:cNvPr id="183" name="Google Shape;183;p20"/>
            <p:cNvSpPr/>
            <p:nvPr/>
          </p:nvSpPr>
          <p:spPr>
            <a:xfrm>
              <a:off x="0" y="0"/>
              <a:ext cx="2476500" cy="3238500"/>
            </a:xfrm>
            <a:prstGeom prst="roundRect">
              <a:avLst>
                <a:gd fmla="val 3076" name="adj"/>
              </a:avLst>
            </a:prstGeom>
            <a:solidFill>
              <a:srgbClr val="1C2541"/>
            </a:solidFill>
            <a:ln cap="flat" cmpd="sng" w="14300">
              <a:solidFill>
                <a:srgbClr val="F43F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 name="Google Shape;184;p20"/>
            <p:cNvSpPr txBox="1"/>
            <p:nvPr/>
          </p:nvSpPr>
          <p:spPr>
            <a:xfrm>
              <a:off x="0" y="0"/>
              <a:ext cx="2476500" cy="32385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950">
                  <a:solidFill>
                    <a:srgbClr val="F43F5E"/>
                  </a:solidFill>
                  <a:latin typeface="Inter"/>
                  <a:ea typeface="Inter"/>
                  <a:cs typeface="Inter"/>
                  <a:sym typeface="Inter"/>
                </a:rPr>
                <a:t>EXACT ILP</a:t>
              </a:r>
              <a:endParaRPr b="1" sz="950">
                <a:solidFill>
                  <a:srgbClr val="F43F5E"/>
                </a:solidFill>
                <a:latin typeface="Inter"/>
                <a:ea typeface="Inter"/>
                <a:cs typeface="Inter"/>
                <a:sym typeface="Inter"/>
              </a:endParaRPr>
            </a:p>
            <a:p>
              <a:pPr indent="0" lvl="0" marL="0" rtl="0" algn="l">
                <a:spcBef>
                  <a:spcPts val="300"/>
                </a:spcBef>
                <a:spcAft>
                  <a:spcPts val="0"/>
                </a:spcAft>
                <a:buNone/>
              </a:pPr>
              <a:r>
                <a:rPr b="0" lang="en" sz="1500">
                  <a:solidFill>
                    <a:srgbClr val="FFFFFF"/>
                  </a:solidFill>
                  <a:latin typeface="Inter ExtraBold"/>
                  <a:ea typeface="Inter ExtraBold"/>
                  <a:cs typeface="Inter ExtraBold"/>
                  <a:sym typeface="Inter ExtraBold"/>
                </a:rPr>
                <a:t>Branch-and-Bound</a:t>
              </a:r>
              <a:endParaRPr b="0" sz="1500">
                <a:solidFill>
                  <a:srgbClr val="FFFFFF"/>
                </a:solidFill>
                <a:latin typeface="Inter ExtraBold"/>
                <a:ea typeface="Inter ExtraBold"/>
                <a:cs typeface="Inter ExtraBold"/>
                <a:sym typeface="Inter ExtraBold"/>
              </a:endParaRPr>
            </a:p>
            <a:p>
              <a:pPr indent="0" lvl="0" marL="0" rtl="0" algn="l">
                <a:spcBef>
                  <a:spcPts val="1500"/>
                </a:spcBef>
                <a:spcAft>
                  <a:spcPts val="0"/>
                </a:spcAft>
                <a:buNone/>
              </a:pPr>
              <a:r>
                <a:rPr b="1" lang="en" sz="1100">
                  <a:solidFill>
                    <a:srgbClr val="94A3B8"/>
                  </a:solidFill>
                  <a:latin typeface="Inter"/>
                  <a:ea typeface="Inter"/>
                  <a:cs typeface="Inter"/>
                  <a:sym typeface="Inter"/>
                </a:rPr>
                <a:t>BEST USED FOR</a:t>
              </a:r>
              <a:endParaRPr b="1" sz="1100">
                <a:solidFill>
                  <a:srgbClr val="94A3B8"/>
                </a:solidFill>
                <a:latin typeface="Inter"/>
                <a:ea typeface="Inter"/>
                <a:cs typeface="Inter"/>
                <a:sym typeface="Inter"/>
              </a:endParaRPr>
            </a:p>
            <a:p>
              <a:pPr indent="0" lvl="0" marL="0" rtl="0" algn="l">
                <a:spcBef>
                  <a:spcPts val="450"/>
                </a:spcBef>
                <a:spcAft>
                  <a:spcPts val="0"/>
                </a:spcAft>
                <a:buNone/>
              </a:pPr>
              <a:r>
                <a:rPr b="0" lang="en" sz="1100">
                  <a:solidFill>
                    <a:srgbClr val="CBD5E1"/>
                  </a:solidFill>
                  <a:latin typeface="Inter"/>
                  <a:ea typeface="Inter"/>
                  <a:cs typeface="Inter"/>
                  <a:sym typeface="Inter"/>
                </a:rPr>
                <a:t>Small-to-medium instances (N ≤ 256) where true mathematical minimality is required.</a:t>
              </a:r>
              <a:endParaRPr b="0" sz="1100">
                <a:solidFill>
                  <a:srgbClr val="CBD5E1"/>
                </a:solidFill>
                <a:latin typeface="Inter"/>
                <a:ea typeface="Inter"/>
                <a:cs typeface="Inter"/>
                <a:sym typeface="Inter"/>
              </a:endParaRPr>
            </a:p>
            <a:p>
              <a:pPr indent="0" lvl="0" marL="0" rtl="0" algn="l">
                <a:spcBef>
                  <a:spcPts val="1500"/>
                </a:spcBef>
                <a:spcAft>
                  <a:spcPts val="0"/>
                </a:spcAft>
                <a:buNone/>
              </a:pPr>
              <a:r>
                <a:rPr b="1" lang="en" sz="1100">
                  <a:solidFill>
                    <a:srgbClr val="F43F5E"/>
                  </a:solidFill>
                  <a:latin typeface="Inter"/>
                  <a:ea typeface="Inter"/>
                  <a:cs typeface="Inter"/>
                  <a:sym typeface="Inter"/>
                </a:rPr>
                <a:t>LIMITATION</a:t>
              </a:r>
              <a:endParaRPr b="1" sz="1100">
                <a:solidFill>
                  <a:srgbClr val="F43F5E"/>
                </a:solidFill>
                <a:latin typeface="Inter"/>
                <a:ea typeface="Inter"/>
                <a:cs typeface="Inter"/>
                <a:sym typeface="Inter"/>
              </a:endParaRPr>
            </a:p>
            <a:p>
              <a:pPr indent="0" lvl="0" marL="0" rtl="0" algn="l">
                <a:spcBef>
                  <a:spcPts val="450"/>
                </a:spcBef>
                <a:spcAft>
                  <a:spcPts val="0"/>
                </a:spcAft>
                <a:buNone/>
              </a:pPr>
              <a:r>
                <a:rPr b="0" lang="en" sz="1100">
                  <a:solidFill>
                    <a:srgbClr val="CBD5E1"/>
                  </a:solidFill>
                  <a:latin typeface="Inter"/>
                  <a:ea typeface="Inter"/>
                  <a:cs typeface="Inter"/>
                  <a:sym typeface="Inter"/>
                </a:rPr>
                <a:t>Unusable for large-scale real-time engineering systems due to exponential runtime growth.</a:t>
              </a:r>
              <a:endParaRPr b="0" sz="1100">
                <a:solidFill>
                  <a:srgbClr val="CBD5E1"/>
                </a:solidFill>
                <a:latin typeface="Inter"/>
                <a:ea typeface="Inter"/>
                <a:cs typeface="Inter"/>
                <a:sym typeface="Inter"/>
              </a:endParaRPr>
            </a:p>
          </p:txBody>
        </p:sp>
      </p:grpSp>
      <p:grpSp>
        <p:nvGrpSpPr>
          <p:cNvPr id="185" name="Google Shape;185;p20"/>
          <p:cNvGrpSpPr/>
          <p:nvPr/>
        </p:nvGrpSpPr>
        <p:grpSpPr>
          <a:xfrm>
            <a:off x="3333750" y="1143000"/>
            <a:ext cx="2476500" cy="3238500"/>
            <a:chOff x="0" y="0"/>
            <a:chExt cx="2476500" cy="3238500"/>
          </a:xfrm>
        </p:grpSpPr>
        <p:sp>
          <p:nvSpPr>
            <p:cNvPr id="186" name="Google Shape;186;p20"/>
            <p:cNvSpPr/>
            <p:nvPr/>
          </p:nvSpPr>
          <p:spPr>
            <a:xfrm>
              <a:off x="0" y="0"/>
              <a:ext cx="2476500" cy="3238500"/>
            </a:xfrm>
            <a:prstGeom prst="roundRect">
              <a:avLst>
                <a:gd fmla="val 3076" name="adj"/>
              </a:avLst>
            </a:prstGeom>
            <a:solidFill>
              <a:srgbClr val="1C2541"/>
            </a:solidFill>
            <a:ln cap="flat" cmpd="sng" w="14300">
              <a:solidFill>
                <a:srgbClr val="64FFD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20"/>
            <p:cNvSpPr txBox="1"/>
            <p:nvPr/>
          </p:nvSpPr>
          <p:spPr>
            <a:xfrm>
              <a:off x="0" y="0"/>
              <a:ext cx="2476500" cy="32385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950">
                  <a:solidFill>
                    <a:srgbClr val="64FFDA"/>
                  </a:solidFill>
                  <a:latin typeface="Inter"/>
                  <a:ea typeface="Inter"/>
                  <a:cs typeface="Inter"/>
                  <a:sym typeface="Inter"/>
                </a:rPr>
                <a:t>APPROXIMATION</a:t>
              </a:r>
              <a:endParaRPr b="1" sz="950">
                <a:solidFill>
                  <a:srgbClr val="64FFDA"/>
                </a:solidFill>
                <a:latin typeface="Inter"/>
                <a:ea typeface="Inter"/>
                <a:cs typeface="Inter"/>
                <a:sym typeface="Inter"/>
              </a:endParaRPr>
            </a:p>
            <a:p>
              <a:pPr indent="0" lvl="0" marL="0" rtl="0" algn="l">
                <a:spcBef>
                  <a:spcPts val="300"/>
                </a:spcBef>
                <a:spcAft>
                  <a:spcPts val="0"/>
                </a:spcAft>
                <a:buNone/>
              </a:pPr>
              <a:r>
                <a:rPr b="0" lang="en" sz="1500">
                  <a:solidFill>
                    <a:srgbClr val="FFFFFF"/>
                  </a:solidFill>
                  <a:latin typeface="Inter ExtraBold"/>
                  <a:ea typeface="Inter ExtraBold"/>
                  <a:cs typeface="Inter ExtraBold"/>
                  <a:sym typeface="Inter ExtraBold"/>
                </a:rPr>
                <a:t>Greedy Heuristic</a:t>
              </a:r>
              <a:endParaRPr b="0" sz="1500">
                <a:solidFill>
                  <a:srgbClr val="FFFFFF"/>
                </a:solidFill>
                <a:latin typeface="Inter ExtraBold"/>
                <a:ea typeface="Inter ExtraBold"/>
                <a:cs typeface="Inter ExtraBold"/>
                <a:sym typeface="Inter ExtraBold"/>
              </a:endParaRPr>
            </a:p>
            <a:p>
              <a:pPr indent="0" lvl="0" marL="0" rtl="0" algn="l">
                <a:spcBef>
                  <a:spcPts val="1500"/>
                </a:spcBef>
                <a:spcAft>
                  <a:spcPts val="0"/>
                </a:spcAft>
                <a:buNone/>
              </a:pPr>
              <a:r>
                <a:rPr b="1" lang="en" sz="1100">
                  <a:solidFill>
                    <a:srgbClr val="94A3B8"/>
                  </a:solidFill>
                  <a:latin typeface="Inter"/>
                  <a:ea typeface="Inter"/>
                  <a:cs typeface="Inter"/>
                  <a:sym typeface="Inter"/>
                </a:rPr>
                <a:t>BEST USED FOR</a:t>
              </a:r>
              <a:endParaRPr b="1" sz="1100">
                <a:solidFill>
                  <a:srgbClr val="94A3B8"/>
                </a:solidFill>
                <a:latin typeface="Inter"/>
                <a:ea typeface="Inter"/>
                <a:cs typeface="Inter"/>
                <a:sym typeface="Inter"/>
              </a:endParaRPr>
            </a:p>
            <a:p>
              <a:pPr indent="0" lvl="0" marL="0" rtl="0" algn="l">
                <a:spcBef>
                  <a:spcPts val="450"/>
                </a:spcBef>
                <a:spcAft>
                  <a:spcPts val="0"/>
                </a:spcAft>
                <a:buNone/>
              </a:pPr>
              <a:r>
                <a:rPr b="0" lang="en" sz="1100">
                  <a:solidFill>
                    <a:srgbClr val="CBD5E1"/>
                  </a:solidFill>
                  <a:latin typeface="Inter"/>
                  <a:ea typeface="Inter"/>
                  <a:cs typeface="Inter"/>
                  <a:sym typeface="Inter"/>
                </a:rPr>
                <a:t>Dense grids and high-dimensional synthetic systems needing instant execution (&lt; 0.1s).</a:t>
              </a:r>
              <a:endParaRPr b="0" sz="1100">
                <a:solidFill>
                  <a:srgbClr val="CBD5E1"/>
                </a:solidFill>
                <a:latin typeface="Inter"/>
                <a:ea typeface="Inter"/>
                <a:cs typeface="Inter"/>
                <a:sym typeface="Inter"/>
              </a:endParaRPr>
            </a:p>
            <a:p>
              <a:pPr indent="0" lvl="0" marL="0" rtl="0" algn="l">
                <a:spcBef>
                  <a:spcPts val="1500"/>
                </a:spcBef>
                <a:spcAft>
                  <a:spcPts val="0"/>
                </a:spcAft>
                <a:buNone/>
              </a:pPr>
              <a:r>
                <a:rPr b="1" lang="en" sz="1100">
                  <a:solidFill>
                    <a:srgbClr val="64FFDA"/>
                  </a:solidFill>
                  <a:latin typeface="Inter"/>
                  <a:ea typeface="Inter"/>
                  <a:cs typeface="Inter"/>
                  <a:sym typeface="Inter"/>
                </a:rPr>
                <a:t>LIMITATION</a:t>
              </a:r>
              <a:endParaRPr b="1" sz="1100">
                <a:solidFill>
                  <a:srgbClr val="64FFDA"/>
                </a:solidFill>
                <a:latin typeface="Inter"/>
                <a:ea typeface="Inter"/>
                <a:cs typeface="Inter"/>
                <a:sym typeface="Inter"/>
              </a:endParaRPr>
            </a:p>
            <a:p>
              <a:pPr indent="0" lvl="0" marL="0" rtl="0" algn="l">
                <a:spcBef>
                  <a:spcPts val="450"/>
                </a:spcBef>
                <a:spcAft>
                  <a:spcPts val="0"/>
                </a:spcAft>
                <a:buNone/>
              </a:pPr>
              <a:r>
                <a:rPr b="0" lang="en" sz="1100">
                  <a:solidFill>
                    <a:srgbClr val="CBD5E1"/>
                  </a:solidFill>
                  <a:latin typeface="Inter"/>
                  <a:ea typeface="Inter"/>
                  <a:cs typeface="Inter"/>
                  <a:sym typeface="Inter"/>
                </a:rPr>
                <a:t>Vulnerable to local optimization traps on sparse structured benchmarks.</a:t>
              </a:r>
              <a:endParaRPr b="0" sz="1100">
                <a:solidFill>
                  <a:srgbClr val="CBD5E1"/>
                </a:solidFill>
                <a:latin typeface="Inter"/>
                <a:ea typeface="Inter"/>
                <a:cs typeface="Inter"/>
                <a:sym typeface="Inter"/>
              </a:endParaRPr>
            </a:p>
          </p:txBody>
        </p:sp>
      </p:grpSp>
      <p:grpSp>
        <p:nvGrpSpPr>
          <p:cNvPr id="188" name="Google Shape;188;p20"/>
          <p:cNvGrpSpPr/>
          <p:nvPr/>
        </p:nvGrpSpPr>
        <p:grpSpPr>
          <a:xfrm>
            <a:off x="6096000" y="1143000"/>
            <a:ext cx="2476500" cy="3238500"/>
            <a:chOff x="0" y="0"/>
            <a:chExt cx="2476500" cy="3238500"/>
          </a:xfrm>
        </p:grpSpPr>
        <p:sp>
          <p:nvSpPr>
            <p:cNvPr id="189" name="Google Shape;189;p20"/>
            <p:cNvSpPr/>
            <p:nvPr/>
          </p:nvSpPr>
          <p:spPr>
            <a:xfrm>
              <a:off x="0" y="0"/>
              <a:ext cx="2476500" cy="3238500"/>
            </a:xfrm>
            <a:prstGeom prst="roundRect">
              <a:avLst>
                <a:gd fmla="val 3076" name="adj"/>
              </a:avLst>
            </a:prstGeom>
            <a:solidFill>
              <a:srgbClr val="1C2541"/>
            </a:solidFill>
            <a:ln cap="flat" cmpd="sng" w="14300">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20"/>
            <p:cNvSpPr txBox="1"/>
            <p:nvPr/>
          </p:nvSpPr>
          <p:spPr>
            <a:xfrm>
              <a:off x="0" y="0"/>
              <a:ext cx="2476500" cy="32385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950">
                  <a:solidFill>
                    <a:srgbClr val="38BDF8"/>
                  </a:solidFill>
                  <a:latin typeface="Inter"/>
                  <a:ea typeface="Inter"/>
                  <a:cs typeface="Inter"/>
                  <a:sym typeface="Inter"/>
                </a:rPr>
                <a:t>METAHEURISTICS</a:t>
              </a:r>
              <a:endParaRPr b="1" sz="950">
                <a:solidFill>
                  <a:srgbClr val="38BDF8"/>
                </a:solidFill>
                <a:latin typeface="Inter"/>
                <a:ea typeface="Inter"/>
                <a:cs typeface="Inter"/>
                <a:sym typeface="Inter"/>
              </a:endParaRPr>
            </a:p>
            <a:p>
              <a:pPr indent="0" lvl="0" marL="0" rtl="0" algn="l">
                <a:spcBef>
                  <a:spcPts val="300"/>
                </a:spcBef>
                <a:spcAft>
                  <a:spcPts val="0"/>
                </a:spcAft>
                <a:buNone/>
              </a:pPr>
              <a:r>
                <a:rPr b="0" lang="en" sz="1500">
                  <a:solidFill>
                    <a:srgbClr val="FFFFFF"/>
                  </a:solidFill>
                  <a:latin typeface="Inter ExtraBold"/>
                  <a:ea typeface="Inter ExtraBold"/>
                  <a:cs typeface="Inter ExtraBold"/>
                  <a:sym typeface="Inter ExtraBold"/>
                </a:rPr>
                <a:t>GA &amp; Harmony Search</a:t>
              </a:r>
              <a:endParaRPr b="0" sz="1500">
                <a:solidFill>
                  <a:srgbClr val="FFFFFF"/>
                </a:solidFill>
                <a:latin typeface="Inter ExtraBold"/>
                <a:ea typeface="Inter ExtraBold"/>
                <a:cs typeface="Inter ExtraBold"/>
                <a:sym typeface="Inter ExtraBold"/>
              </a:endParaRPr>
            </a:p>
            <a:p>
              <a:pPr indent="0" lvl="0" marL="0" rtl="0" algn="l">
                <a:spcBef>
                  <a:spcPts val="1500"/>
                </a:spcBef>
                <a:spcAft>
                  <a:spcPts val="0"/>
                </a:spcAft>
                <a:buNone/>
              </a:pPr>
              <a:r>
                <a:rPr b="1" lang="en" sz="1100">
                  <a:solidFill>
                    <a:srgbClr val="94A3B8"/>
                  </a:solidFill>
                  <a:latin typeface="Inter"/>
                  <a:ea typeface="Inter"/>
                  <a:cs typeface="Inter"/>
                  <a:sym typeface="Inter"/>
                </a:rPr>
                <a:t>BEST USED FOR</a:t>
              </a:r>
              <a:endParaRPr b="1" sz="1100">
                <a:solidFill>
                  <a:srgbClr val="94A3B8"/>
                </a:solidFill>
                <a:latin typeface="Inter"/>
                <a:ea typeface="Inter"/>
                <a:cs typeface="Inter"/>
                <a:sym typeface="Inter"/>
              </a:endParaRPr>
            </a:p>
            <a:p>
              <a:pPr indent="0" lvl="0" marL="0" rtl="0" algn="l">
                <a:spcBef>
                  <a:spcPts val="450"/>
                </a:spcBef>
                <a:spcAft>
                  <a:spcPts val="0"/>
                </a:spcAft>
                <a:buNone/>
              </a:pPr>
              <a:r>
                <a:rPr b="0" lang="en" sz="1100">
                  <a:solidFill>
                    <a:srgbClr val="CBD5E1"/>
                  </a:solidFill>
                  <a:latin typeface="Inter"/>
                  <a:ea typeface="Inter"/>
                  <a:cs typeface="Inter"/>
                  <a:sym typeface="Inter"/>
                </a:rPr>
                <a:t>Complex sparse academic instances (e.g., scp41) where local greedy traps exist.</a:t>
              </a:r>
              <a:endParaRPr b="0" sz="1100">
                <a:solidFill>
                  <a:srgbClr val="CBD5E1"/>
                </a:solidFill>
                <a:latin typeface="Inter"/>
                <a:ea typeface="Inter"/>
                <a:cs typeface="Inter"/>
                <a:sym typeface="Inter"/>
              </a:endParaRPr>
            </a:p>
            <a:p>
              <a:pPr indent="0" lvl="0" marL="0" rtl="0" algn="l">
                <a:spcBef>
                  <a:spcPts val="1500"/>
                </a:spcBef>
                <a:spcAft>
                  <a:spcPts val="0"/>
                </a:spcAft>
                <a:buNone/>
              </a:pPr>
              <a:r>
                <a:rPr b="1" lang="en" sz="1100">
                  <a:solidFill>
                    <a:srgbClr val="38BDF8"/>
                  </a:solidFill>
                  <a:latin typeface="Inter"/>
                  <a:ea typeface="Inter"/>
                  <a:cs typeface="Inter"/>
                  <a:sym typeface="Inter"/>
                </a:rPr>
                <a:t>KEY TAKEAWAY</a:t>
              </a:r>
              <a:endParaRPr b="1" sz="1100">
                <a:solidFill>
                  <a:srgbClr val="38BDF8"/>
                </a:solidFill>
                <a:latin typeface="Inter"/>
                <a:ea typeface="Inter"/>
                <a:cs typeface="Inter"/>
                <a:sym typeface="Inter"/>
              </a:endParaRPr>
            </a:p>
            <a:p>
              <a:pPr indent="0" lvl="0" marL="0" rtl="0" algn="l">
                <a:spcBef>
                  <a:spcPts val="450"/>
                </a:spcBef>
                <a:spcAft>
                  <a:spcPts val="0"/>
                </a:spcAft>
                <a:buNone/>
              </a:pPr>
              <a:r>
                <a:rPr b="0" lang="en" sz="1100">
                  <a:solidFill>
                    <a:srgbClr val="CBD5E1"/>
                  </a:solidFill>
                  <a:latin typeface="Inter"/>
                  <a:ea typeface="Inter"/>
                  <a:cs typeface="Inter"/>
                  <a:sym typeface="Inter"/>
                </a:rPr>
                <a:t>Harmony Search offers faster convergence and lower memory overhead than GA.</a:t>
              </a:r>
              <a:endParaRPr b="0" sz="1100">
                <a:solidFill>
                  <a:srgbClr val="CBD5E1"/>
                </a:solidFill>
                <a:latin typeface="Inter"/>
                <a:ea typeface="Inter"/>
                <a:cs typeface="Inter"/>
                <a:sym typeface="Inte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5" name="Shape 195"/>
        <p:cNvGrpSpPr/>
        <p:nvPr/>
      </p:nvGrpSpPr>
      <p:grpSpPr>
        <a:xfrm>
          <a:off x="0" y="0"/>
          <a:ext cx="0" cy="0"/>
          <a:chOff x="0" y="0"/>
          <a:chExt cx="0" cy="0"/>
        </a:xfrm>
      </p:grpSpPr>
      <p:grpSp>
        <p:nvGrpSpPr>
          <p:cNvPr id="196" name="Google Shape;196;p21"/>
          <p:cNvGrpSpPr/>
          <p:nvPr/>
        </p:nvGrpSpPr>
        <p:grpSpPr>
          <a:xfrm>
            <a:off x="571500" y="381000"/>
            <a:ext cx="8001000" cy="428700"/>
            <a:chOff x="0" y="0"/>
            <a:chExt cx="8001000" cy="428700"/>
          </a:xfrm>
        </p:grpSpPr>
        <p:sp>
          <p:nvSpPr>
            <p:cNvPr id="197" name="Google Shape;197;p21"/>
            <p:cNvSpPr/>
            <p:nvPr/>
          </p:nvSpPr>
          <p:spPr>
            <a:xfrm>
              <a:off x="0" y="0"/>
              <a:ext cx="80010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21"/>
            <p:cNvSpPr txBox="1"/>
            <p:nvPr/>
          </p:nvSpPr>
          <p:spPr>
            <a:xfrm>
              <a:off x="0" y="0"/>
              <a:ext cx="8001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200">
                  <a:solidFill>
                    <a:srgbClr val="FFFFFF"/>
                  </a:solidFill>
                  <a:latin typeface="Montserrat ExtraBold"/>
                  <a:ea typeface="Montserrat ExtraBold"/>
                  <a:cs typeface="Montserrat ExtraBold"/>
                  <a:sym typeface="Montserrat ExtraBold"/>
                </a:rPr>
                <a:t>Software Architecture &amp; Academic Compliance</a:t>
              </a:r>
              <a:endParaRPr b="0" sz="2200">
                <a:solidFill>
                  <a:srgbClr val="FFFFFF"/>
                </a:solidFill>
                <a:latin typeface="Montserrat ExtraBold"/>
                <a:ea typeface="Montserrat ExtraBold"/>
                <a:cs typeface="Montserrat ExtraBold"/>
                <a:sym typeface="Montserrat ExtraBold"/>
              </a:endParaRPr>
            </a:p>
          </p:txBody>
        </p:sp>
      </p:grpSp>
      <p:grpSp>
        <p:nvGrpSpPr>
          <p:cNvPr id="199" name="Google Shape;199;p21"/>
          <p:cNvGrpSpPr/>
          <p:nvPr/>
        </p:nvGrpSpPr>
        <p:grpSpPr>
          <a:xfrm>
            <a:off x="571500" y="1143000"/>
            <a:ext cx="2476500" cy="3429000"/>
            <a:chOff x="0" y="0"/>
            <a:chExt cx="2476500" cy="3429000"/>
          </a:xfrm>
        </p:grpSpPr>
        <p:sp>
          <p:nvSpPr>
            <p:cNvPr id="200" name="Google Shape;200;p21"/>
            <p:cNvSpPr/>
            <p:nvPr/>
          </p:nvSpPr>
          <p:spPr>
            <a:xfrm>
              <a:off x="0" y="0"/>
              <a:ext cx="2476500" cy="3429000"/>
            </a:xfrm>
            <a:prstGeom prst="roundRect">
              <a:avLst>
                <a:gd fmla="val 3076" name="adj"/>
              </a:avLst>
            </a:prstGeom>
            <a:solidFill>
              <a:srgbClr val="1C2541"/>
            </a:solidFill>
            <a:ln cap="flat" cmpd="sng" w="14300">
              <a:solidFill>
                <a:srgbClr val="64FFD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1" name="Google Shape;201;p21"/>
            <p:cNvSpPr txBox="1"/>
            <p:nvPr/>
          </p:nvSpPr>
          <p:spPr>
            <a:xfrm>
              <a:off x="0" y="0"/>
              <a:ext cx="2476500" cy="3429000"/>
            </a:xfrm>
            <a:prstGeom prst="rect">
              <a:avLst/>
            </a:prstGeom>
            <a:solidFill>
              <a:srgbClr val="000000">
                <a:alpha val="0"/>
              </a:srgbClr>
            </a:solid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1" lang="en" sz="850">
                  <a:solidFill>
                    <a:srgbClr val="64FFDA"/>
                  </a:solidFill>
                  <a:latin typeface="Inter"/>
                  <a:ea typeface="Inter"/>
                  <a:cs typeface="Inter"/>
                  <a:sym typeface="Inter"/>
                </a:rPr>
                <a:t>System Architecture</a:t>
              </a:r>
              <a:endParaRPr b="1" sz="850">
                <a:solidFill>
                  <a:srgbClr val="64FFDA"/>
                </a:solidFill>
                <a:latin typeface="Inter"/>
                <a:ea typeface="Inter"/>
                <a:cs typeface="Inter"/>
                <a:sym typeface="Inter"/>
              </a:endParaRPr>
            </a:p>
            <a:p>
              <a:pPr indent="0" lvl="0" marL="0" rtl="0" algn="l">
                <a:spcBef>
                  <a:spcPts val="300"/>
                </a:spcBef>
                <a:spcAft>
                  <a:spcPts val="0"/>
                </a:spcAft>
                <a:buNone/>
              </a:pPr>
              <a:r>
                <a:rPr b="0" lang="en" sz="1600">
                  <a:solidFill>
                    <a:srgbClr val="FFFFFF"/>
                  </a:solidFill>
                  <a:latin typeface="Inter ExtraBold"/>
                  <a:ea typeface="Inter ExtraBold"/>
                  <a:cs typeface="Inter ExtraBold"/>
                  <a:sym typeface="Inter ExtraBold"/>
                </a:rPr>
                <a:t>Modular Pipeline</a:t>
              </a:r>
              <a:endParaRPr b="0" sz="1600">
                <a:solidFill>
                  <a:srgbClr val="FFFFFF"/>
                </a:solidFill>
                <a:latin typeface="Inter ExtraBold"/>
                <a:ea typeface="Inter ExtraBold"/>
                <a:cs typeface="Inter ExtraBold"/>
                <a:sym typeface="Inter ExtraBold"/>
              </a:endParaRPr>
            </a:p>
            <a:p>
              <a:pPr indent="0" lvl="0" marL="0" rtl="0" algn="l">
                <a:spcBef>
                  <a:spcPts val="1200"/>
                </a:spcBef>
                <a:spcAft>
                  <a:spcPts val="0"/>
                </a:spcAft>
                <a:buNone/>
              </a:pPr>
              <a:r>
                <a:rPr b="1" lang="en" sz="1050">
                  <a:solidFill>
                    <a:srgbClr val="94A3B8"/>
                  </a:solidFill>
                  <a:latin typeface="Inter"/>
                  <a:ea typeface="Inter"/>
                  <a:cs typeface="Inter"/>
                  <a:sym typeface="Inter"/>
                </a:rPr>
                <a:t>Independent Solvers</a:t>
              </a:r>
              <a:endParaRPr b="1" sz="1050">
                <a:solidFill>
                  <a:srgbClr val="94A3B8"/>
                </a:solidFill>
                <a:latin typeface="Inter"/>
                <a:ea typeface="Inter"/>
                <a:cs typeface="Inter"/>
                <a:sym typeface="Inter"/>
              </a:endParaRPr>
            </a:p>
            <a:p>
              <a:pPr indent="0" lvl="0" marL="0" rtl="0" algn="l">
                <a:spcBef>
                  <a:spcPts val="300"/>
                </a:spcBef>
                <a:spcAft>
                  <a:spcPts val="0"/>
                </a:spcAft>
                <a:buNone/>
              </a:pPr>
              <a:r>
                <a:rPr b="0" lang="en" sz="1000">
                  <a:solidFill>
                    <a:srgbClr val="CBD5E1"/>
                  </a:solidFill>
                  <a:latin typeface="Inter"/>
                  <a:ea typeface="Inter"/>
                  <a:cs typeface="Inter"/>
                  <a:sym typeface="Inter"/>
                </a:rPr>
                <a:t>Modular solver suite including ILP, Greedy, Genetic, and Harmony Search modules.</a:t>
              </a:r>
              <a:endParaRPr b="0" sz="1000">
                <a:solidFill>
                  <a:srgbClr val="CBD5E1"/>
                </a:solidFill>
                <a:latin typeface="Inter"/>
                <a:ea typeface="Inter"/>
                <a:cs typeface="Inter"/>
                <a:sym typeface="Inter"/>
              </a:endParaRPr>
            </a:p>
            <a:p>
              <a:pPr indent="0" lvl="0" marL="0" rtl="0" algn="l">
                <a:spcBef>
                  <a:spcPts val="1200"/>
                </a:spcBef>
                <a:spcAft>
                  <a:spcPts val="0"/>
                </a:spcAft>
                <a:buNone/>
              </a:pPr>
              <a:r>
                <a:rPr b="1" lang="en" sz="1050">
                  <a:solidFill>
                    <a:srgbClr val="94A3B8"/>
                  </a:solidFill>
                  <a:latin typeface="Inter"/>
                  <a:ea typeface="Inter"/>
                  <a:cs typeface="Inter"/>
                  <a:sym typeface="Inter"/>
                </a:rPr>
                <a:t>Pipeline &amp; Metrics</a:t>
              </a:r>
              <a:endParaRPr b="1" sz="1050">
                <a:solidFill>
                  <a:srgbClr val="94A3B8"/>
                </a:solidFill>
                <a:latin typeface="Inter"/>
                <a:ea typeface="Inter"/>
                <a:cs typeface="Inter"/>
                <a:sym typeface="Inter"/>
              </a:endParaRPr>
            </a:p>
            <a:p>
              <a:pPr indent="0" lvl="0" marL="0" rtl="0" algn="l">
                <a:spcBef>
                  <a:spcPts val="300"/>
                </a:spcBef>
                <a:spcAft>
                  <a:spcPts val="0"/>
                </a:spcAft>
                <a:buNone/>
              </a:pPr>
              <a:r>
                <a:rPr b="0" lang="en" sz="1000">
                  <a:solidFill>
                    <a:srgbClr val="CBD5E1"/>
                  </a:solidFill>
                  <a:latin typeface="Inter"/>
                  <a:ea typeface="Inter"/>
                  <a:cs typeface="Inter"/>
                  <a:sym typeface="Inter"/>
                </a:rPr>
                <a:t>Unified pipeline driver (</a:t>
              </a:r>
              <a:r>
                <a:rPr b="0" lang="en" sz="1000">
                  <a:solidFill>
                    <a:srgbClr val="64FFDA"/>
                  </a:solidFill>
                  <a:latin typeface="Arial"/>
                  <a:ea typeface="Arial"/>
                  <a:cs typeface="Arial"/>
                  <a:sym typeface="Arial"/>
                </a:rPr>
                <a:t>main.py</a:t>
              </a:r>
              <a:r>
                <a:rPr b="0" lang="en" sz="1000">
                  <a:solidFill>
                    <a:srgbClr val="CBD5E1"/>
                  </a:solidFill>
                  <a:latin typeface="Inter"/>
                  <a:ea typeface="Inter"/>
                  <a:cs typeface="Inter"/>
                  <a:sym typeface="Inter"/>
                </a:rPr>
                <a:t>) with automated CSV metrics logging and visualization (</a:t>
              </a:r>
              <a:r>
                <a:rPr b="0" lang="en" sz="1000">
                  <a:solidFill>
                    <a:srgbClr val="64FFDA"/>
                  </a:solidFill>
                  <a:latin typeface="Arial"/>
                  <a:ea typeface="Arial"/>
                  <a:cs typeface="Arial"/>
                  <a:sym typeface="Arial"/>
                </a:rPr>
                <a:t>generate_plots.py</a:t>
              </a:r>
              <a:r>
                <a:rPr b="0" lang="en" sz="1000">
                  <a:solidFill>
                    <a:srgbClr val="CBD5E1"/>
                  </a:solidFill>
                  <a:latin typeface="Inter"/>
                  <a:ea typeface="Inter"/>
                  <a:cs typeface="Inter"/>
                  <a:sym typeface="Inter"/>
                </a:rPr>
                <a:t>).</a:t>
              </a:r>
              <a:endParaRPr b="0" sz="1000">
                <a:solidFill>
                  <a:srgbClr val="CBD5E1"/>
                </a:solidFill>
                <a:latin typeface="Inter"/>
                <a:ea typeface="Inter"/>
                <a:cs typeface="Inter"/>
                <a:sym typeface="Inter"/>
              </a:endParaRPr>
            </a:p>
          </p:txBody>
        </p:sp>
      </p:grpSp>
      <p:grpSp>
        <p:nvGrpSpPr>
          <p:cNvPr id="202" name="Google Shape;202;p21"/>
          <p:cNvGrpSpPr/>
          <p:nvPr/>
        </p:nvGrpSpPr>
        <p:grpSpPr>
          <a:xfrm>
            <a:off x="3333750" y="1143000"/>
            <a:ext cx="2476500" cy="3429000"/>
            <a:chOff x="0" y="0"/>
            <a:chExt cx="2476500" cy="3429000"/>
          </a:xfrm>
        </p:grpSpPr>
        <p:sp>
          <p:nvSpPr>
            <p:cNvPr id="203" name="Google Shape;203;p21"/>
            <p:cNvSpPr/>
            <p:nvPr/>
          </p:nvSpPr>
          <p:spPr>
            <a:xfrm>
              <a:off x="0" y="0"/>
              <a:ext cx="2476500" cy="3429000"/>
            </a:xfrm>
            <a:prstGeom prst="roundRect">
              <a:avLst>
                <a:gd fmla="val 3076" name="adj"/>
              </a:avLst>
            </a:prstGeom>
            <a:solidFill>
              <a:srgbClr val="1C2541"/>
            </a:solidFill>
            <a:ln cap="flat" cmpd="sng" w="14300">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21"/>
            <p:cNvSpPr txBox="1"/>
            <p:nvPr/>
          </p:nvSpPr>
          <p:spPr>
            <a:xfrm>
              <a:off x="0" y="0"/>
              <a:ext cx="2476500" cy="3429000"/>
            </a:xfrm>
            <a:prstGeom prst="rect">
              <a:avLst/>
            </a:prstGeom>
            <a:solidFill>
              <a:srgbClr val="000000">
                <a:alpha val="0"/>
              </a:srgbClr>
            </a:solid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1" lang="en" sz="850">
                  <a:solidFill>
                    <a:srgbClr val="38BDF8"/>
                  </a:solidFill>
                  <a:latin typeface="Inter"/>
                  <a:ea typeface="Inter"/>
                  <a:cs typeface="Inter"/>
                  <a:sym typeface="Inter"/>
                </a:rPr>
                <a:t>Contributions</a:t>
              </a:r>
              <a:endParaRPr b="1" sz="850">
                <a:solidFill>
                  <a:srgbClr val="38BDF8"/>
                </a:solidFill>
                <a:latin typeface="Inter"/>
                <a:ea typeface="Inter"/>
                <a:cs typeface="Inter"/>
                <a:sym typeface="Inter"/>
              </a:endParaRPr>
            </a:p>
            <a:p>
              <a:pPr indent="0" lvl="0" marL="0" rtl="0" algn="l">
                <a:spcBef>
                  <a:spcPts val="300"/>
                </a:spcBef>
                <a:spcAft>
                  <a:spcPts val="0"/>
                </a:spcAft>
                <a:buNone/>
              </a:pPr>
              <a:r>
                <a:rPr b="0" lang="en" sz="1600">
                  <a:solidFill>
                    <a:srgbClr val="FFFFFF"/>
                  </a:solidFill>
                  <a:latin typeface="Inter ExtraBold"/>
                  <a:ea typeface="Inter ExtraBold"/>
                  <a:cs typeface="Inter ExtraBold"/>
                  <a:sym typeface="Inter ExtraBold"/>
                </a:rPr>
                <a:t>Team Breakdown</a:t>
              </a:r>
              <a:endParaRPr b="0" sz="1600">
                <a:solidFill>
                  <a:srgbClr val="FFFFFF"/>
                </a:solidFill>
                <a:latin typeface="Inter ExtraBold"/>
                <a:ea typeface="Inter ExtraBold"/>
                <a:cs typeface="Inter ExtraBold"/>
                <a:sym typeface="Inter ExtraBold"/>
              </a:endParaRPr>
            </a:p>
            <a:p>
              <a:pPr indent="0" lvl="0" marL="0" rtl="0" algn="l">
                <a:spcBef>
                  <a:spcPts val="1200"/>
                </a:spcBef>
                <a:spcAft>
                  <a:spcPts val="0"/>
                </a:spcAft>
                <a:buNone/>
              </a:pPr>
              <a:r>
                <a:rPr b="1" lang="en" sz="1100">
                  <a:solidFill>
                    <a:srgbClr val="FFFFFF"/>
                  </a:solidFill>
                  <a:latin typeface="Inter"/>
                  <a:ea typeface="Inter"/>
                  <a:cs typeface="Inter"/>
                  <a:sym typeface="Inter"/>
                </a:rPr>
                <a:t>Ian Phillips</a:t>
              </a:r>
              <a:endParaRPr b="1" sz="1100">
                <a:solidFill>
                  <a:srgbClr val="FFFFFF"/>
                </a:solidFill>
                <a:latin typeface="Inter"/>
                <a:ea typeface="Inter"/>
                <a:cs typeface="Inter"/>
                <a:sym typeface="Inter"/>
              </a:endParaRPr>
            </a:p>
            <a:p>
              <a:pPr indent="0" lvl="0" marL="0" rtl="0" algn="l">
                <a:spcBef>
                  <a:spcPts val="150"/>
                </a:spcBef>
                <a:spcAft>
                  <a:spcPts val="0"/>
                </a:spcAft>
                <a:buNone/>
              </a:pPr>
              <a:r>
                <a:rPr b="0" lang="en" sz="1000">
                  <a:solidFill>
                    <a:srgbClr val="94A3B8"/>
                  </a:solidFill>
                  <a:latin typeface="Inter"/>
                  <a:ea typeface="Inter"/>
                  <a:cs typeface="Inter"/>
                  <a:sym typeface="Inter"/>
                </a:rPr>
                <a:t>Core Greedy heuristic logic and data matrix parsing.</a:t>
              </a:r>
              <a:endParaRPr b="0" sz="1000">
                <a:solidFill>
                  <a:srgbClr val="94A3B8"/>
                </a:solidFill>
                <a:latin typeface="Inter"/>
                <a:ea typeface="Inter"/>
                <a:cs typeface="Inter"/>
                <a:sym typeface="Inter"/>
              </a:endParaRPr>
            </a:p>
            <a:p>
              <a:pPr indent="0" lvl="0" marL="0" rtl="0" algn="l">
                <a:spcBef>
                  <a:spcPts val="900"/>
                </a:spcBef>
                <a:spcAft>
                  <a:spcPts val="0"/>
                </a:spcAft>
                <a:buNone/>
              </a:pPr>
              <a:r>
                <a:rPr b="1" lang="en" sz="1100">
                  <a:solidFill>
                    <a:srgbClr val="FFFFFF"/>
                  </a:solidFill>
                  <a:latin typeface="Inter"/>
                  <a:ea typeface="Inter"/>
                  <a:cs typeface="Inter"/>
                  <a:sym typeface="Inter"/>
                </a:rPr>
                <a:t>Abdullah Javed</a:t>
              </a:r>
              <a:endParaRPr b="1" sz="1100">
                <a:solidFill>
                  <a:srgbClr val="FFFFFF"/>
                </a:solidFill>
                <a:latin typeface="Inter"/>
                <a:ea typeface="Inter"/>
                <a:cs typeface="Inter"/>
                <a:sym typeface="Inter"/>
              </a:endParaRPr>
            </a:p>
            <a:p>
              <a:pPr indent="0" lvl="0" marL="0" rtl="0" algn="l">
                <a:spcBef>
                  <a:spcPts val="150"/>
                </a:spcBef>
                <a:spcAft>
                  <a:spcPts val="0"/>
                </a:spcAft>
                <a:buNone/>
              </a:pPr>
              <a:r>
                <a:rPr b="0" lang="en" sz="1000">
                  <a:solidFill>
                    <a:srgbClr val="94A3B8"/>
                  </a:solidFill>
                  <a:latin typeface="Inter"/>
                  <a:ea typeface="Inter"/>
                  <a:cs typeface="Inter"/>
                  <a:sym typeface="Inter"/>
                </a:rPr>
                <a:t>Harmony Search, ILP engine integration, and plots.</a:t>
              </a:r>
              <a:endParaRPr b="0" sz="1000">
                <a:solidFill>
                  <a:srgbClr val="94A3B8"/>
                </a:solidFill>
                <a:latin typeface="Inter"/>
                <a:ea typeface="Inter"/>
                <a:cs typeface="Inter"/>
                <a:sym typeface="Inter"/>
              </a:endParaRPr>
            </a:p>
            <a:p>
              <a:pPr indent="0" lvl="0" marL="0" rtl="0" algn="l">
                <a:spcBef>
                  <a:spcPts val="900"/>
                </a:spcBef>
                <a:spcAft>
                  <a:spcPts val="0"/>
                </a:spcAft>
                <a:buNone/>
              </a:pPr>
              <a:r>
                <a:rPr b="1" lang="en" sz="1100">
                  <a:solidFill>
                    <a:srgbClr val="FFFFFF"/>
                  </a:solidFill>
                  <a:latin typeface="Inter"/>
                  <a:ea typeface="Inter"/>
                  <a:cs typeface="Inter"/>
                  <a:sym typeface="Inter"/>
                </a:rPr>
                <a:t>Matthew Richardson</a:t>
              </a:r>
              <a:endParaRPr b="1" sz="1100">
                <a:solidFill>
                  <a:srgbClr val="FFFFFF"/>
                </a:solidFill>
                <a:latin typeface="Inter"/>
                <a:ea typeface="Inter"/>
                <a:cs typeface="Inter"/>
                <a:sym typeface="Inter"/>
              </a:endParaRPr>
            </a:p>
            <a:p>
              <a:pPr indent="0" lvl="0" marL="0" rtl="0" algn="l">
                <a:spcBef>
                  <a:spcPts val="150"/>
                </a:spcBef>
                <a:spcAft>
                  <a:spcPts val="0"/>
                </a:spcAft>
                <a:buNone/>
              </a:pPr>
              <a:r>
                <a:rPr b="0" lang="en" sz="1000">
                  <a:solidFill>
                    <a:srgbClr val="94A3B8"/>
                  </a:solidFill>
                  <a:latin typeface="Inter"/>
                  <a:ea typeface="Inter"/>
                  <a:cs typeface="Inter"/>
                  <a:sym typeface="Inter"/>
                </a:rPr>
                <a:t>Genetic Search, crossover/mutation, repair loops, pipeline.</a:t>
              </a:r>
              <a:endParaRPr b="0" sz="1000">
                <a:solidFill>
                  <a:srgbClr val="94A3B8"/>
                </a:solidFill>
                <a:latin typeface="Inter"/>
                <a:ea typeface="Inter"/>
                <a:cs typeface="Inter"/>
                <a:sym typeface="Inter"/>
              </a:endParaRPr>
            </a:p>
          </p:txBody>
        </p:sp>
      </p:grpSp>
      <p:grpSp>
        <p:nvGrpSpPr>
          <p:cNvPr id="205" name="Google Shape;205;p21"/>
          <p:cNvGrpSpPr/>
          <p:nvPr/>
        </p:nvGrpSpPr>
        <p:grpSpPr>
          <a:xfrm>
            <a:off x="6096000" y="1143000"/>
            <a:ext cx="2476500" cy="3429000"/>
            <a:chOff x="0" y="0"/>
            <a:chExt cx="2476500" cy="3429000"/>
          </a:xfrm>
        </p:grpSpPr>
        <p:sp>
          <p:nvSpPr>
            <p:cNvPr id="206" name="Google Shape;206;p21"/>
            <p:cNvSpPr/>
            <p:nvPr/>
          </p:nvSpPr>
          <p:spPr>
            <a:xfrm>
              <a:off x="0" y="0"/>
              <a:ext cx="2476500" cy="3429000"/>
            </a:xfrm>
            <a:prstGeom prst="roundRect">
              <a:avLst>
                <a:gd fmla="val 3076" name="adj"/>
              </a:avLst>
            </a:prstGeom>
            <a:solidFill>
              <a:srgbClr val="1C2541"/>
            </a:solidFill>
            <a:ln cap="flat" cmpd="sng" w="14300">
              <a:solidFill>
                <a:srgbClr val="F43F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7" name="Google Shape;207;p21"/>
            <p:cNvSpPr txBox="1"/>
            <p:nvPr/>
          </p:nvSpPr>
          <p:spPr>
            <a:xfrm>
              <a:off x="0" y="0"/>
              <a:ext cx="2476500" cy="3429000"/>
            </a:xfrm>
            <a:prstGeom prst="rect">
              <a:avLst/>
            </a:prstGeom>
            <a:solidFill>
              <a:srgbClr val="000000">
                <a:alpha val="0"/>
              </a:srgbClr>
            </a:solid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1" lang="en" sz="786">
                  <a:solidFill>
                    <a:srgbClr val="F43F5E"/>
                  </a:solidFill>
                  <a:latin typeface="Inter"/>
                  <a:ea typeface="Inter"/>
                  <a:cs typeface="Inter"/>
                  <a:sym typeface="Inter"/>
                </a:rPr>
                <a:t>Academic Integrity</a:t>
              </a:r>
              <a:endParaRPr b="1" sz="786">
                <a:solidFill>
                  <a:srgbClr val="F43F5E"/>
                </a:solidFill>
                <a:latin typeface="Inter"/>
                <a:ea typeface="Inter"/>
                <a:cs typeface="Inter"/>
                <a:sym typeface="Inter"/>
              </a:endParaRPr>
            </a:p>
            <a:p>
              <a:pPr indent="0" lvl="0" marL="0" rtl="0" algn="l">
                <a:spcBef>
                  <a:spcPts val="300"/>
                </a:spcBef>
                <a:spcAft>
                  <a:spcPts val="0"/>
                </a:spcAft>
                <a:buNone/>
              </a:pPr>
              <a:r>
                <a:rPr b="0" lang="en" sz="1480">
                  <a:solidFill>
                    <a:srgbClr val="FFFFFF"/>
                  </a:solidFill>
                  <a:latin typeface="Inter ExtraBold"/>
                  <a:ea typeface="Inter ExtraBold"/>
                  <a:cs typeface="Inter ExtraBold"/>
                  <a:sym typeface="Inter ExtraBold"/>
                </a:rPr>
                <a:t>GenAI Compliance</a:t>
              </a:r>
              <a:endParaRPr b="0" sz="1480">
                <a:solidFill>
                  <a:srgbClr val="FFFFFF"/>
                </a:solidFill>
                <a:latin typeface="Inter ExtraBold"/>
                <a:ea typeface="Inter ExtraBold"/>
                <a:cs typeface="Inter ExtraBold"/>
                <a:sym typeface="Inter ExtraBold"/>
              </a:endParaRPr>
            </a:p>
            <a:p>
              <a:pPr indent="0" lvl="0" marL="0" rtl="0" algn="l">
                <a:spcBef>
                  <a:spcPts val="1200"/>
                </a:spcBef>
                <a:spcAft>
                  <a:spcPts val="0"/>
                </a:spcAft>
                <a:buNone/>
              </a:pPr>
              <a:r>
                <a:rPr b="1" lang="en" sz="971">
                  <a:solidFill>
                    <a:srgbClr val="94A3B8"/>
                  </a:solidFill>
                  <a:latin typeface="Inter"/>
                  <a:ea typeface="Inter"/>
                  <a:cs typeface="Inter"/>
                  <a:sym typeface="Inter"/>
                </a:rPr>
                <a:t>TTU Guidelines</a:t>
              </a:r>
              <a:endParaRPr b="1" sz="971">
                <a:solidFill>
                  <a:srgbClr val="94A3B8"/>
                </a:solidFill>
                <a:latin typeface="Inter"/>
                <a:ea typeface="Inter"/>
                <a:cs typeface="Inter"/>
                <a:sym typeface="Inter"/>
              </a:endParaRPr>
            </a:p>
            <a:p>
              <a:pPr indent="0" lvl="0" marL="0" rtl="0" algn="l">
                <a:spcBef>
                  <a:spcPts val="300"/>
                </a:spcBef>
                <a:spcAft>
                  <a:spcPts val="0"/>
                </a:spcAft>
                <a:buNone/>
              </a:pPr>
              <a:r>
                <a:rPr b="0" lang="en" sz="925">
                  <a:solidFill>
                    <a:srgbClr val="CBD5E1"/>
                  </a:solidFill>
                  <a:latin typeface="Inter"/>
                  <a:ea typeface="Inter"/>
                  <a:cs typeface="Inter"/>
                  <a:sym typeface="Inter"/>
                </a:rPr>
                <a:t>Utilized Gemini strictly as a pair-programming collaborator for Matplotlib styling, token parsers, and proofreading.</a:t>
              </a:r>
              <a:endParaRPr b="0" sz="925">
                <a:solidFill>
                  <a:srgbClr val="CBD5E1"/>
                </a:solidFill>
                <a:latin typeface="Inter"/>
                <a:ea typeface="Inter"/>
                <a:cs typeface="Inter"/>
                <a:sym typeface="Inter"/>
              </a:endParaRPr>
            </a:p>
            <a:p>
              <a:pPr indent="0" lvl="0" marL="0" rtl="0" algn="l">
                <a:spcBef>
                  <a:spcPts val="1200"/>
                </a:spcBef>
                <a:spcAft>
                  <a:spcPts val="0"/>
                </a:spcAft>
                <a:buNone/>
              </a:pPr>
              <a:r>
                <a:rPr b="1" lang="en" sz="971">
                  <a:solidFill>
                    <a:srgbClr val="94A3B8"/>
                  </a:solidFill>
                  <a:latin typeface="Inter"/>
                  <a:ea typeface="Inter"/>
                  <a:cs typeface="Inter"/>
                  <a:sym typeface="Inter"/>
                </a:rPr>
                <a:t>Manual Verification</a:t>
              </a:r>
              <a:endParaRPr b="1" sz="971">
                <a:solidFill>
                  <a:srgbClr val="94A3B8"/>
                </a:solidFill>
                <a:latin typeface="Inter"/>
                <a:ea typeface="Inter"/>
                <a:cs typeface="Inter"/>
                <a:sym typeface="Inter"/>
              </a:endParaRPr>
            </a:p>
            <a:p>
              <a:pPr indent="0" lvl="0" marL="0" rtl="0" algn="l">
                <a:spcBef>
                  <a:spcPts val="300"/>
                </a:spcBef>
                <a:spcAft>
                  <a:spcPts val="0"/>
                </a:spcAft>
                <a:buNone/>
              </a:pPr>
              <a:r>
                <a:rPr b="0" lang="en" sz="925">
                  <a:solidFill>
                    <a:srgbClr val="CBD5E1"/>
                  </a:solidFill>
                  <a:latin typeface="Inter"/>
                  <a:ea typeface="Inter"/>
                  <a:cs typeface="Inter"/>
                  <a:sym typeface="Inter"/>
                </a:rPr>
                <a:t>All underlying algorithmic design logic, parameter selection, experimental execution, and validation of results were reviewed and verified by the team. The human authors remain fully responsible for the correctness and integrity of all outputs.</a:t>
              </a:r>
              <a:endParaRPr b="0" sz="925">
                <a:solidFill>
                  <a:srgbClr val="CBD5E1"/>
                </a:solidFill>
                <a:latin typeface="Inter"/>
                <a:ea typeface="Inter"/>
                <a:cs typeface="Inter"/>
                <a:sym typeface="Inte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2" name="Shape 212"/>
        <p:cNvGrpSpPr/>
        <p:nvPr/>
      </p:nvGrpSpPr>
      <p:grpSpPr>
        <a:xfrm>
          <a:off x="0" y="0"/>
          <a:ext cx="0" cy="0"/>
          <a:chOff x="0" y="0"/>
          <a:chExt cx="0" cy="0"/>
        </a:xfrm>
      </p:grpSpPr>
      <p:sp>
        <p:nvSpPr>
          <p:cNvPr id="213" name="Google Shape;213;p22"/>
          <p:cNvSpPr txBox="1"/>
          <p:nvPr/>
        </p:nvSpPr>
        <p:spPr>
          <a:xfrm>
            <a:off x="571500" y="381000"/>
            <a:ext cx="8001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200">
                <a:solidFill>
                  <a:srgbClr val="FFFFFF"/>
                </a:solidFill>
                <a:latin typeface="Montserrat ExtraBold"/>
                <a:ea typeface="Montserrat ExtraBold"/>
                <a:cs typeface="Montserrat ExtraBold"/>
                <a:sym typeface="Montserrat ExtraBold"/>
              </a:rPr>
              <a:t>Conclusion &amp; Q&amp;A Session</a:t>
            </a:r>
            <a:endParaRPr b="0" sz="2200">
              <a:solidFill>
                <a:srgbClr val="FFFFFF"/>
              </a:solidFill>
              <a:latin typeface="Montserrat ExtraBold"/>
              <a:ea typeface="Montserrat ExtraBold"/>
              <a:cs typeface="Montserrat ExtraBold"/>
              <a:sym typeface="Montserrat ExtraBold"/>
            </a:endParaRPr>
          </a:p>
        </p:txBody>
      </p:sp>
      <p:grpSp>
        <p:nvGrpSpPr>
          <p:cNvPr id="214" name="Google Shape;214;p22"/>
          <p:cNvGrpSpPr/>
          <p:nvPr/>
        </p:nvGrpSpPr>
        <p:grpSpPr>
          <a:xfrm>
            <a:off x="571500" y="1143000"/>
            <a:ext cx="4572000" cy="3429000"/>
            <a:chOff x="0" y="0"/>
            <a:chExt cx="4572000" cy="3429000"/>
          </a:xfrm>
        </p:grpSpPr>
        <p:sp>
          <p:nvSpPr>
            <p:cNvPr id="215" name="Google Shape;215;p22"/>
            <p:cNvSpPr/>
            <p:nvPr/>
          </p:nvSpPr>
          <p:spPr>
            <a:xfrm>
              <a:off x="0" y="0"/>
              <a:ext cx="4572000" cy="3429000"/>
            </a:xfrm>
            <a:prstGeom prst="roundRect">
              <a:avLst>
                <a:gd fmla="val 2222" name="adj"/>
              </a:avLst>
            </a:prstGeom>
            <a:solidFill>
              <a:srgbClr val="1C2541"/>
            </a:solidFill>
            <a:ln cap="flat" cmpd="sng" w="14300">
              <a:solidFill>
                <a:srgbClr val="64FFD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 name="Google Shape;216;p22"/>
            <p:cNvSpPr txBox="1"/>
            <p:nvPr/>
          </p:nvSpPr>
          <p:spPr>
            <a:xfrm>
              <a:off x="0" y="0"/>
              <a:ext cx="4572000" cy="34290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1" lang="en" sz="1000">
                  <a:solidFill>
                    <a:srgbClr val="64FFDA"/>
                  </a:solidFill>
                  <a:latin typeface="Inter"/>
                  <a:ea typeface="Inter"/>
                  <a:cs typeface="Inter"/>
                  <a:sym typeface="Inter"/>
                </a:rPr>
                <a:t>Summary of Key Artifacts</a:t>
              </a:r>
              <a:endParaRPr b="1" sz="1000">
                <a:solidFill>
                  <a:srgbClr val="64FFDA"/>
                </a:solidFill>
                <a:latin typeface="Inter"/>
                <a:ea typeface="Inter"/>
                <a:cs typeface="Inter"/>
                <a:sym typeface="Inter"/>
              </a:endParaRPr>
            </a:p>
            <a:p>
              <a:pPr indent="0" lvl="0" marL="0" rtl="0" algn="l">
                <a:spcBef>
                  <a:spcPts val="300"/>
                </a:spcBef>
                <a:spcAft>
                  <a:spcPts val="0"/>
                </a:spcAft>
                <a:buNone/>
              </a:pPr>
              <a:r>
                <a:rPr b="0" lang="en" sz="1600">
                  <a:solidFill>
                    <a:srgbClr val="FFFFFF"/>
                  </a:solidFill>
                  <a:latin typeface="Inter ExtraBold"/>
                  <a:ea typeface="Inter ExtraBold"/>
                  <a:cs typeface="Inter ExtraBold"/>
                  <a:sym typeface="Inter ExtraBold"/>
                </a:rPr>
                <a:t>Project Deliverables</a:t>
              </a:r>
              <a:endParaRPr b="0" sz="1600">
                <a:solidFill>
                  <a:srgbClr val="FFFFFF"/>
                </a:solidFill>
                <a:latin typeface="Inter ExtraBold"/>
                <a:ea typeface="Inter ExtraBold"/>
                <a:cs typeface="Inter ExtraBold"/>
                <a:sym typeface="Inter ExtraBold"/>
              </a:endParaRPr>
            </a:p>
            <a:p>
              <a:pPr indent="-298450" lvl="0" marL="457200" rtl="0" algn="l">
                <a:spcBef>
                  <a:spcPts val="1500"/>
                </a:spcBef>
                <a:spcAft>
                  <a:spcPts val="0"/>
                </a:spcAft>
                <a:buClr>
                  <a:srgbClr val="CBD5E1"/>
                </a:buClr>
                <a:buSzPts val="1100"/>
                <a:buFont typeface="Inter"/>
                <a:buChar char="●"/>
              </a:pPr>
              <a:r>
                <a:rPr b="1" lang="en" sz="1200">
                  <a:solidFill>
                    <a:srgbClr val="64FFDA"/>
                  </a:solidFill>
                  <a:latin typeface="Inter"/>
                  <a:ea typeface="Inter"/>
                  <a:cs typeface="Inter"/>
                  <a:sym typeface="Inter"/>
                </a:rPr>
                <a:t>Empirical Benchmark Framework</a:t>
              </a:r>
              <a:r>
                <a:rPr b="0" lang="en" sz="1100">
                  <a:solidFill>
                    <a:srgbClr val="CBD5E1"/>
                  </a:solidFill>
                  <a:latin typeface="Inter"/>
                  <a:ea typeface="Inter"/>
                  <a:cs typeface="Inter"/>
                  <a:sym typeface="Inter"/>
                </a:rPr>
                <a:t>Complete empirical coverage across exact, heuristic, and metaheuristic paradigms.</a:t>
              </a:r>
              <a:endParaRPr b="0" sz="1100">
                <a:solidFill>
                  <a:srgbClr val="CBD5E1"/>
                </a:solidFill>
                <a:latin typeface="Inter"/>
                <a:ea typeface="Inter"/>
                <a:cs typeface="Inter"/>
                <a:sym typeface="Inter"/>
              </a:endParaRPr>
            </a:p>
            <a:p>
              <a:pPr indent="-298450" lvl="0" marL="457200" rtl="0" algn="l">
                <a:spcBef>
                  <a:spcPts val="1200"/>
                </a:spcBef>
                <a:spcAft>
                  <a:spcPts val="0"/>
                </a:spcAft>
                <a:buClr>
                  <a:srgbClr val="CBD5E1"/>
                </a:buClr>
                <a:buSzPts val="1100"/>
                <a:buFont typeface="Inter"/>
                <a:buChar char="●"/>
              </a:pPr>
              <a:r>
                <a:rPr b="1" lang="en" sz="1200">
                  <a:solidFill>
                    <a:srgbClr val="64FFDA"/>
                  </a:solidFill>
                  <a:latin typeface="Inter"/>
                  <a:ea typeface="Inter"/>
                  <a:cs typeface="Inter"/>
                  <a:sym typeface="Inter"/>
                </a:rPr>
                <a:t>Validated Performance Trade-offs</a:t>
              </a:r>
              <a:r>
                <a:rPr b="0" lang="en" sz="1100">
                  <a:solidFill>
                    <a:srgbClr val="CBD5E1"/>
                  </a:solidFill>
                  <a:latin typeface="Inter"/>
                  <a:ea typeface="Inter"/>
                  <a:cs typeface="Inter"/>
                  <a:sym typeface="Inter"/>
                </a:rPr>
                <a:t>Rigorous testing against academic (OR-Library) and synthetic suites.</a:t>
              </a:r>
              <a:endParaRPr b="0" sz="1100">
                <a:solidFill>
                  <a:srgbClr val="CBD5E1"/>
                </a:solidFill>
                <a:latin typeface="Inter"/>
                <a:ea typeface="Inter"/>
                <a:cs typeface="Inter"/>
                <a:sym typeface="Inter"/>
              </a:endParaRPr>
            </a:p>
            <a:p>
              <a:pPr indent="-298450" lvl="0" marL="457200" rtl="0" algn="l">
                <a:spcBef>
                  <a:spcPts val="1200"/>
                </a:spcBef>
                <a:spcAft>
                  <a:spcPts val="0"/>
                </a:spcAft>
                <a:buClr>
                  <a:srgbClr val="CBD5E1"/>
                </a:buClr>
                <a:buSzPts val="1100"/>
                <a:buFont typeface="Inter"/>
                <a:buChar char="●"/>
              </a:pPr>
              <a:r>
                <a:rPr b="1" lang="en" sz="1200">
                  <a:solidFill>
                    <a:srgbClr val="64FFDA"/>
                  </a:solidFill>
                  <a:latin typeface="Inter"/>
                  <a:ea typeface="Inter"/>
                  <a:cs typeface="Inter"/>
                  <a:sym typeface="Inter"/>
                </a:rPr>
                <a:t>Reproducible Codebase</a:t>
              </a:r>
              <a:r>
                <a:rPr b="0" lang="en" sz="1100">
                  <a:solidFill>
                    <a:srgbClr val="CBD5E1"/>
                  </a:solidFill>
                  <a:latin typeface="Inter"/>
                  <a:ea typeface="Inter"/>
                  <a:cs typeface="Inter"/>
                  <a:sym typeface="Inter"/>
                </a:rPr>
                <a:t>Modular implementation fully published and accessible on GitHub.</a:t>
              </a:r>
              <a:endParaRPr b="0" sz="1100">
                <a:solidFill>
                  <a:srgbClr val="CBD5E1"/>
                </a:solidFill>
                <a:latin typeface="Inter"/>
                <a:ea typeface="Inter"/>
                <a:cs typeface="Inter"/>
                <a:sym typeface="Inter"/>
              </a:endParaRPr>
            </a:p>
          </p:txBody>
        </p:sp>
      </p:grpSp>
      <p:grpSp>
        <p:nvGrpSpPr>
          <p:cNvPr id="217" name="Google Shape;217;p22"/>
          <p:cNvGrpSpPr/>
          <p:nvPr/>
        </p:nvGrpSpPr>
        <p:grpSpPr>
          <a:xfrm>
            <a:off x="5429250" y="1143000"/>
            <a:ext cx="3143400" cy="1524000"/>
            <a:chOff x="0" y="0"/>
            <a:chExt cx="3143400" cy="1524000"/>
          </a:xfrm>
        </p:grpSpPr>
        <p:sp>
          <p:nvSpPr>
            <p:cNvPr id="218" name="Google Shape;218;p22"/>
            <p:cNvSpPr/>
            <p:nvPr/>
          </p:nvSpPr>
          <p:spPr>
            <a:xfrm>
              <a:off x="0" y="0"/>
              <a:ext cx="3143400" cy="1524000"/>
            </a:xfrm>
            <a:prstGeom prst="roundRect">
              <a:avLst>
                <a:gd fmla="val 5000" name="adj"/>
              </a:avLst>
            </a:prstGeom>
            <a:solidFill>
              <a:srgbClr val="1C2541"/>
            </a:solidFill>
            <a:ln cap="flat" cmpd="sng" w="14300">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9" name="Google Shape;219;p22"/>
            <p:cNvSpPr txBox="1"/>
            <p:nvPr/>
          </p:nvSpPr>
          <p:spPr>
            <a:xfrm>
              <a:off x="0" y="0"/>
              <a:ext cx="3143400" cy="15240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550">
                  <a:solidFill>
                    <a:srgbClr val="38BDF8"/>
                  </a:solidFill>
                  <a:latin typeface="Inter"/>
                  <a:ea typeface="Inter"/>
                  <a:cs typeface="Inter"/>
                  <a:sym typeface="Inter"/>
                </a:rPr>
                <a:t>Project Repository</a:t>
              </a:r>
              <a:endParaRPr b="1" sz="550">
                <a:solidFill>
                  <a:srgbClr val="38BDF8"/>
                </a:solidFill>
                <a:latin typeface="Inter"/>
                <a:ea typeface="Inter"/>
                <a:cs typeface="Inter"/>
                <a:sym typeface="Inter"/>
              </a:endParaRPr>
            </a:p>
            <a:p>
              <a:pPr indent="0" lvl="0" marL="0" rtl="0" algn="l">
                <a:spcBef>
                  <a:spcPts val="300"/>
                </a:spcBef>
                <a:spcAft>
                  <a:spcPts val="0"/>
                </a:spcAft>
                <a:buNone/>
              </a:pPr>
              <a:r>
                <a:rPr b="0" lang="en" sz="825">
                  <a:solidFill>
                    <a:srgbClr val="FFFFFF"/>
                  </a:solidFill>
                  <a:latin typeface="Inter ExtraBold"/>
                  <a:ea typeface="Inter ExtraBold"/>
                  <a:cs typeface="Inter ExtraBold"/>
                  <a:sym typeface="Inter ExtraBold"/>
                </a:rPr>
                <a:t>Access Codebase</a:t>
              </a:r>
              <a:endParaRPr b="0" sz="825">
                <a:solidFill>
                  <a:srgbClr val="FFFFFF"/>
                </a:solidFill>
                <a:latin typeface="Inter ExtraBold"/>
                <a:ea typeface="Inter ExtraBold"/>
                <a:cs typeface="Inter ExtraBold"/>
                <a:sym typeface="Inter ExtraBold"/>
              </a:endParaRPr>
            </a:p>
            <a:p>
              <a:pPr indent="0" lvl="0" marL="0" rtl="0" algn="l">
                <a:spcBef>
                  <a:spcPts val="900"/>
                </a:spcBef>
                <a:spcAft>
                  <a:spcPts val="0"/>
                </a:spcAft>
                <a:buNone/>
              </a:pPr>
              <a:r>
                <a:rPr lang="en" sz="578" u="sng">
                  <a:solidFill>
                    <a:schemeClr val="hlink"/>
                  </a:solidFill>
                  <a:latin typeface="Inter"/>
                  <a:ea typeface="Inter"/>
                  <a:cs typeface="Inter"/>
                  <a:sym typeface="Inter"/>
                  <a:hlinkClick r:id="rId4"/>
                </a:rPr>
                <a:t>Unweighted SCP Repo</a:t>
              </a:r>
              <a:endParaRPr b="0" sz="578">
                <a:solidFill>
                  <a:srgbClr val="94A3B8"/>
                </a:solidFill>
                <a:latin typeface="Inter"/>
                <a:ea typeface="Inter"/>
                <a:cs typeface="Inter"/>
                <a:sym typeface="Inter"/>
              </a:endParaRPr>
            </a:p>
          </p:txBody>
        </p:sp>
      </p:grpSp>
      <p:grpSp>
        <p:nvGrpSpPr>
          <p:cNvPr id="220" name="Google Shape;220;p22"/>
          <p:cNvGrpSpPr/>
          <p:nvPr/>
        </p:nvGrpSpPr>
        <p:grpSpPr>
          <a:xfrm>
            <a:off x="5429250" y="2857500"/>
            <a:ext cx="3143400" cy="1714500"/>
            <a:chOff x="0" y="0"/>
            <a:chExt cx="3143400" cy="1714500"/>
          </a:xfrm>
        </p:grpSpPr>
        <p:sp>
          <p:nvSpPr>
            <p:cNvPr id="221" name="Google Shape;221;p22"/>
            <p:cNvSpPr/>
            <p:nvPr/>
          </p:nvSpPr>
          <p:spPr>
            <a:xfrm>
              <a:off x="0" y="0"/>
              <a:ext cx="3143400" cy="1714500"/>
            </a:xfrm>
            <a:prstGeom prst="roundRect">
              <a:avLst>
                <a:gd fmla="val 4444" name="adj"/>
              </a:avLst>
            </a:prstGeom>
            <a:solidFill>
              <a:srgbClr val="1C2541"/>
            </a:solidFill>
            <a:ln cap="flat" cmpd="sng" w="14300">
              <a:solidFill>
                <a:srgbClr val="F43F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2" name="Google Shape;222;p22"/>
            <p:cNvSpPr txBox="1"/>
            <p:nvPr/>
          </p:nvSpPr>
          <p:spPr>
            <a:xfrm>
              <a:off x="0" y="0"/>
              <a:ext cx="3143400" cy="1714500"/>
            </a:xfrm>
            <a:prstGeom prst="rect">
              <a:avLst/>
            </a:prstGeom>
            <a:noFill/>
            <a:ln>
              <a:noFill/>
            </a:ln>
          </p:spPr>
          <p:txBody>
            <a:bodyPr anchorCtr="0" anchor="ctr" bIns="190500" lIns="190500" spcFirstLastPara="1" rIns="190500" wrap="square" tIns="190500">
              <a:noAutofit/>
            </a:bodyPr>
            <a:lstStyle/>
            <a:p>
              <a:pPr indent="0" lvl="0" marL="0" rtl="0" algn="ctr">
                <a:spcBef>
                  <a:spcPts val="0"/>
                </a:spcBef>
                <a:spcAft>
                  <a:spcPts val="0"/>
                </a:spcAft>
                <a:buNone/>
              </a:pPr>
              <a:r>
                <a:rPr b="1" lang="en" sz="1000">
                  <a:solidFill>
                    <a:srgbClr val="F43F5E"/>
                  </a:solidFill>
                  <a:latin typeface="Inter"/>
                  <a:ea typeface="Inter"/>
                  <a:cs typeface="Inter"/>
                  <a:sym typeface="Inter"/>
                </a:rPr>
                <a:t>Session Wrap-Up</a:t>
              </a:r>
              <a:endParaRPr b="1" sz="1000">
                <a:solidFill>
                  <a:srgbClr val="F43F5E"/>
                </a:solidFill>
                <a:latin typeface="Inter"/>
                <a:ea typeface="Inter"/>
                <a:cs typeface="Inter"/>
                <a:sym typeface="Inter"/>
              </a:endParaRPr>
            </a:p>
            <a:p>
              <a:pPr indent="0" lvl="0" marL="0" rtl="0" algn="ctr">
                <a:spcBef>
                  <a:spcPts val="600"/>
                </a:spcBef>
                <a:spcAft>
                  <a:spcPts val="0"/>
                </a:spcAft>
                <a:buNone/>
              </a:pPr>
              <a:r>
                <a:rPr b="0" lang="en" sz="2400">
                  <a:solidFill>
                    <a:srgbClr val="FFFFFF"/>
                  </a:solidFill>
                  <a:latin typeface="Montserrat ExtraBold"/>
                  <a:ea typeface="Montserrat ExtraBold"/>
                  <a:cs typeface="Montserrat ExtraBold"/>
                  <a:sym typeface="Montserrat ExtraBold"/>
                </a:rPr>
                <a:t>Thank You!</a:t>
              </a:r>
              <a:endParaRPr b="0" sz="2400">
                <a:solidFill>
                  <a:srgbClr val="FFFFFF"/>
                </a:solidFill>
                <a:latin typeface="Montserrat ExtraBold"/>
                <a:ea typeface="Montserrat ExtraBold"/>
                <a:cs typeface="Montserrat ExtraBold"/>
                <a:sym typeface="Montserrat ExtraBold"/>
              </a:endParaRPr>
            </a:p>
            <a:p>
              <a:pPr indent="0" lvl="0" marL="0" rtl="0" algn="ctr">
                <a:spcBef>
                  <a:spcPts val="450"/>
                </a:spcBef>
                <a:spcAft>
                  <a:spcPts val="0"/>
                </a:spcAft>
                <a:buNone/>
              </a:pPr>
              <a:r>
                <a:rPr b="0" lang="en" sz="1400">
                  <a:solidFill>
                    <a:srgbClr val="CBD5E1"/>
                  </a:solidFill>
                  <a:latin typeface="Inter"/>
                  <a:ea typeface="Inter"/>
                  <a:cs typeface="Inter"/>
                  <a:sym typeface="Inter"/>
                </a:rPr>
                <a:t>Any Questions?</a:t>
              </a:r>
              <a:endParaRPr b="0" sz="1400">
                <a:solidFill>
                  <a:srgbClr val="CBD5E1"/>
                </a:solidFill>
                <a:latin typeface="Inter"/>
                <a:ea typeface="Inter"/>
                <a:cs typeface="Inter"/>
                <a:sym typeface="Inte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